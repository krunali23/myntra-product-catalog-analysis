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961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C1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828800" y="475488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78815" y="344180"/>
            <a:ext cx="1220264" cy="8844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004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/home/claude/myntra_ppt/myntra_logo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02920"/>
            <a:ext cx="823415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 DATA  ANALYSIS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31089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Product Catalog: Data Analysis Report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640080" y="4526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 •  Data Cleaning  •  Business Insights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6035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760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looks at a Myntra product list covering clothing and footwear. The goal is to understand the products, prices, discounts and customer ratings, and then find useful business insights.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292608" cy="292608"/>
          </a:xfrm>
          <a:prstGeom prst="ellipse">
            <a:avLst/>
          </a:prstGeom>
          <a:solidFill>
            <a:srgbClr val="FF15B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566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raw data and check its quality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87952"/>
            <a:ext cx="292608" cy="292608"/>
          </a:xfrm>
          <a:prstGeom prst="ellipse">
            <a:avLst/>
          </a:prstGeom>
          <a:solidFill>
            <a:srgbClr val="FF15B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87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14223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missing values, wrong values and outliers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09744"/>
            <a:ext cx="292608" cy="292608"/>
          </a:xfrm>
          <a:prstGeom prst="ellipse">
            <a:avLst/>
          </a:prstGeom>
          <a:solidFill>
            <a:srgbClr val="FF15B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8097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76402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patterns in one column, two columns and brands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431536"/>
            <a:ext cx="292608" cy="292608"/>
          </a:xfrm>
          <a:prstGeom prst="ellipse">
            <a:avLst/>
          </a:prstGeom>
          <a:solidFill>
            <a:srgbClr val="FF15B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4315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5385816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what we find into business insights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1783080"/>
            <a:ext cx="4937760" cy="4709160"/>
          </a:xfrm>
          <a:prstGeom prst="roundRect">
            <a:avLst>
              <a:gd name="adj" fmla="val 2330"/>
            </a:avLst>
          </a:prstGeom>
          <a:solidFill>
            <a:srgbClr val="282C3F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9202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kern="0" spc="1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OF THE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kern="0" spc="1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283464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clean, reliable dataset and find patterns in prices, discounts, categories and ratings that matter to a fashion business like Myntra.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86600" y="4297680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3A3F55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42976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86600" y="4681728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3A3F55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46817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Outliers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86600" y="5065776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3A3F55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506577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&amp; Comparisons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086600" y="5449824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3A3F55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54498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Columns Relate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086600" y="5833872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3A3F55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58338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Category Insights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 |  E-Commerce Data Analysis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DEDF1"/>
            </a:solidFill>
            <a:prstDash val="solid"/>
          </a:ln>
          <a:effectLst>
            <a:outerShdw blurRad="635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916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DEDF1"/>
            </a:solidFill>
            <a:prstDash val="solid"/>
          </a:ln>
          <a:effectLst>
            <a:outerShdw blurRad="635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6916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DEDF1"/>
            </a:solidFill>
            <a:prstDash val="solid"/>
          </a:ln>
          <a:effectLst>
            <a:outerShdw blurRad="635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6916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5544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DEDF1"/>
            </a:solidFill>
            <a:prstDash val="solid"/>
          </a:ln>
          <a:effectLst>
            <a:outerShdw blurRad="635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16916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6968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Sub-Categories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Myntra Dataset.csv. A list of Men's and Women's clothing and footwear products with price, discount and rating details.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IN THE DATASET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7F7F9"/>
          </a:solidFill>
          <a:ln w="12700">
            <a:solidFill>
              <a:srgbClr val="EAEA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60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Product_ID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19272" y="416052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7F7F9"/>
          </a:solidFill>
          <a:ln w="12700">
            <a:solidFill>
              <a:srgbClr val="EAEA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4160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Product_Name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9904" y="416052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7F7F9"/>
          </a:solidFill>
          <a:ln w="12700">
            <a:solidFill>
              <a:srgbClr val="EAEA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9904" y="4160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60536" y="416052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7F7F9"/>
          </a:solidFill>
          <a:ln w="12700">
            <a:solidFill>
              <a:srgbClr val="EAEA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0536" y="4160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782312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7F7F9"/>
          </a:solidFill>
          <a:ln w="12700">
            <a:solidFill>
              <a:srgbClr val="EAEA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7823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19272" y="4782312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7F7F9"/>
          </a:solidFill>
          <a:ln w="12700">
            <a:solidFill>
              <a:srgbClr val="EAEA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9272" y="47823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Sub_Category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9904" y="4782312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7F7F9"/>
          </a:solidFill>
          <a:ln w="12700">
            <a:solidFill>
              <a:srgbClr val="EAEA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47823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60536" y="4782312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7F7F9"/>
          </a:solidFill>
          <a:ln w="12700">
            <a:solidFill>
              <a:srgbClr val="EAEA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0536" y="47823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Selling_Price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404104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7F7F9"/>
          </a:solidFill>
          <a:ln w="12700">
            <a:solidFill>
              <a:srgbClr val="EAEA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4041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Discount_Pct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319272" y="5404104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7F7F9"/>
          </a:solidFill>
          <a:ln w="12700">
            <a:solidFill>
              <a:srgbClr val="EAEA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9272" y="54041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89904" y="5404104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7F7F9"/>
          </a:solidFill>
          <a:ln w="12700">
            <a:solidFill>
              <a:srgbClr val="EAEA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9904" y="54041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Rating_Count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 |  E-Commerce Data Analysis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Understanding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7F7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COLUMNS  (5)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846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AEA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4028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224028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to decimal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898648"/>
            <a:ext cx="4846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AEA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89864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Selling_Price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89864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number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557016"/>
            <a:ext cx="4846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AEA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55701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Discount_Pct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55701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number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215384"/>
            <a:ext cx="4846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AEA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21538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421538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number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873752"/>
            <a:ext cx="4846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AEA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87375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Rating_Count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487375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number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422392" cy="4480560"/>
          </a:xfrm>
          <a:prstGeom prst="roundRect">
            <a:avLst>
              <a:gd name="adj" fmla="val 2041"/>
            </a:avLst>
          </a:prstGeom>
          <a:solidFill>
            <a:srgbClr val="282C3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COLUMNS  (6)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Product_ID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2834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Product_Name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Brand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3931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Gender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4480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Category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5029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Sub_Category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5532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rows found: 0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 |  E-Commerce Data Analysis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Missing &amp; Wrong Values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03120" cy="621792"/>
          </a:xfrm>
          <a:prstGeom prst="rect">
            <a:avLst/>
          </a:prstGeom>
          <a:solidFill>
            <a:srgbClr val="282C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0020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51760" y="1600200"/>
            <a:ext cx="4206240" cy="621792"/>
          </a:xfrm>
          <a:prstGeom prst="rect">
            <a:avLst/>
          </a:prstGeom>
          <a:solidFill>
            <a:srgbClr val="282C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61488" y="160020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0" y="1600200"/>
            <a:ext cx="4754880" cy="621792"/>
          </a:xfrm>
          <a:prstGeom prst="rect">
            <a:avLst/>
          </a:prstGeom>
          <a:solidFill>
            <a:srgbClr val="282C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7728" y="160020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21992"/>
            <a:ext cx="2103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22199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Sub_Category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51760" y="2221992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222199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missing values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0" y="2221992"/>
            <a:ext cx="4754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67728" y="2221992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with the most common value ("Sports Shoes")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843784"/>
            <a:ext cx="2103120" cy="621792"/>
          </a:xfrm>
          <a:prstGeom prst="rect">
            <a:avLst/>
          </a:prstGeom>
          <a:solidFill>
            <a:srgbClr val="F7F7F9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84378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Selling_Price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51760" y="2843784"/>
            <a:ext cx="4206240" cy="621792"/>
          </a:xfrm>
          <a:prstGeom prst="rect">
            <a:avLst/>
          </a:prstGeom>
          <a:solidFill>
            <a:srgbClr val="F7F7F9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61488" y="2843784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missing values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0" y="2843784"/>
            <a:ext cx="4754880" cy="621792"/>
          </a:xfrm>
          <a:prstGeom prst="rect">
            <a:avLst/>
          </a:prstGeom>
          <a:solidFill>
            <a:srgbClr val="F7F7F9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2843784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with the middle value (median)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465576"/>
            <a:ext cx="2103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465576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51760" y="3465576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3465576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missing + invalid entries (-1, 5.5)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0" y="3465576"/>
            <a:ext cx="4754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3465576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invalid values, then filled with the middle value of the same brand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087368"/>
            <a:ext cx="2103120" cy="621792"/>
          </a:xfrm>
          <a:prstGeom prst="rect">
            <a:avLst/>
          </a:prstGeom>
          <a:solidFill>
            <a:srgbClr val="F7F7F9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0873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Rating_Count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51760" y="4087368"/>
            <a:ext cx="4206240" cy="621792"/>
          </a:xfrm>
          <a:prstGeom prst="rect">
            <a:avLst/>
          </a:prstGeom>
          <a:solidFill>
            <a:srgbClr val="F7F7F9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61488" y="408736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missing + invalid entries (-500, 999999)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0" y="4087368"/>
            <a:ext cx="4754880" cy="621792"/>
          </a:xfrm>
          <a:prstGeom prst="rect">
            <a:avLst/>
          </a:prstGeom>
          <a:solidFill>
            <a:srgbClr val="F7F7F9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4087368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invalid values, then filled with the middle value (median)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709160"/>
            <a:ext cx="2103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7091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651760" y="4709160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61488" y="470916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capital and small letters ("clothing", "FOOTWEAR")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0" y="4709160"/>
            <a:ext cx="4754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67728" y="470916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all names the same style (e.g. "Clothing")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330952"/>
            <a:ext cx="2103120" cy="621792"/>
          </a:xfrm>
          <a:prstGeom prst="rect">
            <a:avLst/>
          </a:prstGeom>
          <a:solidFill>
            <a:srgbClr val="F7F7F9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533095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Product_Name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651760" y="5330952"/>
            <a:ext cx="4206240" cy="621792"/>
          </a:xfrm>
          <a:prstGeom prst="rect">
            <a:avLst/>
          </a:prstGeom>
          <a:solidFill>
            <a:srgbClr val="F7F7F9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61488" y="533095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spaces at the start or end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858000" y="5330952"/>
            <a:ext cx="4754880" cy="621792"/>
          </a:xfrm>
          <a:prstGeom prst="rect">
            <a:avLst/>
          </a:prstGeom>
          <a:solidFill>
            <a:srgbClr val="F7F7F9"/>
          </a:solidFill>
          <a:ln w="6350">
            <a:solidFill>
              <a:srgbClr val="E7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67728" y="5330952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the extra spaces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613562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cleaning: no missing values are left in all 11 columns, and there are no duplicate rows.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 |  E-Commerce Data Analysis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Outliers (IQR Method)</a:t>
            </a:r>
            <a:endParaRPr lang="en-US" sz="3000" dirty="0"/>
          </a:p>
        </p:txBody>
      </p:sp>
      <p:sp>
        <p:nvSpPr>
          <p:cNvPr id="100" name="Card 1"/>
          <p:cNvSpPr/>
          <p:nvPr/>
        </p:nvSpPr>
        <p:spPr>
          <a:xfrm>
            <a:off x="539750" y="1460500"/>
            <a:ext cx="2635250" cy="36576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7E7EB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1" name="Card 2"/>
          <p:cNvSpPr/>
          <p:nvPr/>
        </p:nvSpPr>
        <p:spPr>
          <a:xfrm>
            <a:off x="3352800" y="1460500"/>
            <a:ext cx="2635250" cy="36576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7E7EB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2" name="Card 3"/>
          <p:cNvSpPr/>
          <p:nvPr/>
        </p:nvSpPr>
        <p:spPr>
          <a:xfrm>
            <a:off x="6165850" y="1460500"/>
            <a:ext cx="2635250" cy="36576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7E7EB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3" name="Card 4"/>
          <p:cNvSpPr/>
          <p:nvPr/>
        </p:nvSpPr>
        <p:spPr>
          <a:xfrm>
            <a:off x="8978900" y="1460500"/>
            <a:ext cx="2635250" cy="36576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7E7EB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/home/claude/myntra_ppt/cell_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261" y="2527300"/>
            <a:ext cx="1402227" cy="1016000"/>
          </a:xfrm>
          <a:prstGeom prst="rect">
            <a:avLst/>
          </a:prstGeom>
        </p:spPr>
      </p:pic>
      <p:pic>
        <p:nvPicPr>
          <p:cNvPr id="9" name="Image 1" descr="/home/claude/myntra_ppt/cell_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261" y="3898900"/>
            <a:ext cx="1402227" cy="1016000"/>
          </a:xfrm>
          <a:prstGeom prst="rect">
            <a:avLst/>
          </a:prstGeom>
        </p:spPr>
      </p:pic>
      <p:pic>
        <p:nvPicPr>
          <p:cNvPr id="12" name="Image 2" descr="/home/claude/myntra_ppt/cell_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9311" y="2527300"/>
            <a:ext cx="1402227" cy="1016000"/>
          </a:xfrm>
          <a:prstGeom prst="rect">
            <a:avLst/>
          </a:prstGeom>
        </p:spPr>
      </p:pic>
      <p:pic>
        <p:nvPicPr>
          <p:cNvPr id="15" name="Image 3" descr="/home/claude/myntra_ppt/cell_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3707" y="3898900"/>
            <a:ext cx="1373436" cy="1016000"/>
          </a:xfrm>
          <a:prstGeom prst="rect">
            <a:avLst/>
          </a:prstGeom>
        </p:spPr>
      </p:pic>
      <p:pic>
        <p:nvPicPr>
          <p:cNvPr id="18" name="Image 4" descr="/home/claude/myntra_ppt/cell_6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432" y="2527300"/>
            <a:ext cx="1380086" cy="1016000"/>
          </a:xfrm>
          <a:prstGeom prst="rect">
            <a:avLst/>
          </a:prstGeom>
        </p:spPr>
      </p:pic>
      <p:pic>
        <p:nvPicPr>
          <p:cNvPr id="21" name="Image 5" descr="/home/claude/myntra_ppt/cell_6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432" y="3898900"/>
            <a:ext cx="1380086" cy="1016000"/>
          </a:xfrm>
          <a:prstGeom prst="rect">
            <a:avLst/>
          </a:prstGeom>
        </p:spPr>
      </p:pic>
      <p:pic>
        <p:nvPicPr>
          <p:cNvPr id="29" name="Image 6" descr="discount_pct_outli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8552" y="2527300"/>
            <a:ext cx="1335945" cy="101600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39750" y="5257800"/>
            <a:ext cx="11074400" cy="1143000"/>
          </a:xfrm>
          <a:prstGeom prst="roundRect">
            <a:avLst>
              <a:gd name="adj" fmla="val 3902"/>
            </a:avLst>
          </a:prstGeom>
          <a:solidFill>
            <a:srgbClr val="FFE3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17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 |  E-Commerce Data Analysis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04" name="TextBox 103"/>
          <p:cNvSpPr txBox="1"/>
          <p:nvPr/>
        </p:nvSpPr>
        <p:spPr>
          <a:xfrm>
            <a:off x="781050" y="1612900"/>
            <a:ext cx="215265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282C3F"/>
                </a:solidFill>
                <a:latin typeface="Arial"/>
              </a:rPr>
              <a:t>MRP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1050" y="1879600"/>
            <a:ext cx="215265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282C3F"/>
                </a:solidFill>
                <a:latin typeface="Arial"/>
              </a:rPr>
              <a:t>Cap: 11,249 (was 14,999)</a:t>
            </a:r>
          </a:p>
          <a:p>
            <a:r>
              <a:rPr sz="1200" b="0">
                <a:solidFill>
                  <a:srgbClr val="282C3F"/>
                </a:solidFill>
                <a:latin typeface="Arial"/>
              </a:rPr>
              <a:t>Skew after: 0.91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81050" y="2324100"/>
            <a:ext cx="21526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spc="150">
                <a:solidFill>
                  <a:srgbClr val="6B6B75"/>
                </a:solidFill>
                <a:latin typeface="Arial"/>
              </a:rPr>
              <a:t>BEFORE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81050" y="3695700"/>
            <a:ext cx="21526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spc="150">
                <a:solidFill>
                  <a:srgbClr val="FF1FB4"/>
                </a:solidFill>
                <a:latin typeface="Arial"/>
              </a:rPr>
              <a:t>AFTER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594100" y="1612900"/>
            <a:ext cx="215265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282C3F"/>
                </a:solidFill>
                <a:latin typeface="Arial"/>
              </a:rPr>
              <a:t>Selling Price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94100" y="1879600"/>
            <a:ext cx="215265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282C3F"/>
                </a:solidFill>
                <a:latin typeface="Arial"/>
              </a:rPr>
              <a:t>Cap: 6,749 (was 10,499)</a:t>
            </a:r>
          </a:p>
          <a:p>
            <a:r>
              <a:rPr sz="1200" b="0">
                <a:solidFill>
                  <a:srgbClr val="282C3F"/>
                </a:solidFill>
                <a:latin typeface="Arial"/>
              </a:rPr>
              <a:t>Skew after: 0.98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594100" y="2324100"/>
            <a:ext cx="21526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spc="150">
                <a:solidFill>
                  <a:srgbClr val="6B6B75"/>
                </a:solidFill>
                <a:latin typeface="Arial"/>
              </a:rPr>
              <a:t>BEFORE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594100" y="3695700"/>
            <a:ext cx="21526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spc="150">
                <a:solidFill>
                  <a:srgbClr val="FF1FB4"/>
                </a:solidFill>
                <a:latin typeface="Arial"/>
              </a:rPr>
              <a:t>AFTER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7150" y="1612900"/>
            <a:ext cx="215265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282C3F"/>
                </a:solidFill>
                <a:latin typeface="Arial"/>
              </a:rPr>
              <a:t>Rating Count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407150" y="1879600"/>
            <a:ext cx="215265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282C3F"/>
                </a:solidFill>
                <a:latin typeface="Arial"/>
              </a:rPr>
              <a:t>Cap: 3,415 (was 4,950)</a:t>
            </a:r>
          </a:p>
          <a:p>
            <a:r>
              <a:rPr sz="1200" b="0">
                <a:solidFill>
                  <a:srgbClr val="282C3F"/>
                </a:solidFill>
                <a:latin typeface="Arial"/>
              </a:rPr>
              <a:t>Skew after: 1.25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7150" y="2324100"/>
            <a:ext cx="21526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spc="150">
                <a:solidFill>
                  <a:srgbClr val="6B6B75"/>
                </a:solidFill>
                <a:latin typeface="Arial"/>
              </a:rPr>
              <a:t>BEFORE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07150" y="3695700"/>
            <a:ext cx="21526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spc="150">
                <a:solidFill>
                  <a:srgbClr val="FF1FB4"/>
                </a:solidFill>
                <a:latin typeface="Arial"/>
              </a:rPr>
              <a:t>AFTER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220200" y="1612900"/>
            <a:ext cx="215265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282C3F"/>
                </a:solidFill>
                <a:latin typeface="Arial"/>
              </a:rPr>
              <a:t>Discount 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220200" y="1879600"/>
            <a:ext cx="215265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282C3F"/>
                </a:solidFill>
                <a:latin typeface="Arial"/>
              </a:rPr>
              <a:t>Limit: 55%, not capped</a:t>
            </a:r>
          </a:p>
          <a:p>
            <a:r>
              <a:rPr sz="1200" b="0">
                <a:solidFill>
                  <a:srgbClr val="282C3F"/>
                </a:solidFill>
                <a:latin typeface="Arial"/>
              </a:rPr>
              <a:t>Skew: 0.28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220200" y="2324100"/>
            <a:ext cx="21526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spc="150">
                <a:solidFill>
                  <a:srgbClr val="6B6B75"/>
                </a:solidFill>
                <a:latin typeface="Arial"/>
              </a:rPr>
              <a:t>BOXPLOT (KEPT AS IS)</a:t>
            </a:r>
          </a:p>
        </p:txBody>
      </p:sp>
      <p:sp>
        <p:nvSpPr>
          <p:cNvPr id="119" name="Valid outlier box"/>
          <p:cNvSpPr/>
          <p:nvPr/>
        </p:nvSpPr>
        <p:spPr>
          <a:xfrm>
            <a:off x="9118600" y="3683000"/>
            <a:ext cx="2355850" cy="1301750"/>
          </a:xfrm>
          <a:prstGeom prst="roundRect">
            <a:avLst>
              <a:gd name="adj" fmla="val 8000"/>
            </a:avLst>
          </a:prstGeom>
          <a:solidFill>
            <a:srgbClr val="FF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9302750" y="3835400"/>
            <a:ext cx="19875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B91F2A"/>
                </a:solidFill>
                <a:latin typeface="Arial"/>
              </a:rPr>
              <a:t>Valid outlier</a:t>
            </a:r>
          </a:p>
          <a:p>
            <a:r>
              <a:rPr sz="1100" b="0">
                <a:solidFill>
                  <a:srgbClr val="282C3F"/>
                </a:solidFill>
                <a:latin typeface="Arial"/>
              </a:rPr>
              <a:t>One 90% discount (Adidas Men Running Shoes, MRP 6,999 → 699) is a genuine promotion, so it was kept.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5500" y="5372100"/>
            <a:ext cx="104775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spc="150">
                <a:solidFill>
                  <a:srgbClr val="B91F2A"/>
                </a:solidFill>
                <a:latin typeface="Arial"/>
              </a:rPr>
              <a:t>INSIGHT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25500" y="5588000"/>
            <a:ext cx="1047750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7800" indent="-177800">
              <a:spcAft>
                <a:spcPts val="500"/>
              </a:spcAft>
              <a:buChar char="●"/>
            </a:pPr>
            <a:r>
              <a:rPr sz="1200" b="1">
                <a:solidFill>
                  <a:srgbClr val="282C3F"/>
                </a:solidFill>
                <a:latin typeface="Arial"/>
              </a:rPr>
              <a:t>MRP, Selling Price and Rating Count: </a:t>
            </a:r>
            <a:r>
              <a:rPr sz="1200" b="0">
                <a:solidFill>
                  <a:srgbClr val="282C3F"/>
                </a:solidFill>
                <a:latin typeface="Arial"/>
              </a:rPr>
              <a:t>very high values were cut down to a limit, so a few extreme values no longer spoil the charts.</a:t>
            </a:r>
          </a:p>
          <a:p>
            <a:pPr marL="177800" indent="-177800">
              <a:spcAft>
                <a:spcPts val="500"/>
              </a:spcAft>
              <a:buChar char="●"/>
            </a:pPr>
            <a:r>
              <a:rPr sz="1200" b="1">
                <a:solidFill>
                  <a:srgbClr val="282C3F"/>
                </a:solidFill>
                <a:latin typeface="Arial"/>
              </a:rPr>
              <a:t>Discount %: </a:t>
            </a:r>
            <a:r>
              <a:rPr sz="1200" b="0">
                <a:solidFill>
                  <a:srgbClr val="282C3F"/>
                </a:solidFill>
                <a:latin typeface="Arial"/>
              </a:rPr>
              <a:t>the one 90% discount is above the 55% limit, but its MRP and Selling Price show it is a real offer, so we kept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· UNIVARIATE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&amp; Sub-Category Mix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062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7E7EB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64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by Category</a:t>
            </a:r>
            <a:endParaRPr lang="en-US" sz="1200" dirty="0"/>
          </a:p>
        </p:txBody>
      </p:sp>
      <p:pic>
        <p:nvPicPr>
          <p:cNvPr id="6" name="Image 0" descr="/home/claude/myntra_ppt/cell_1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51763"/>
            <a:ext cx="3931920" cy="30939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92040" y="1554480"/>
            <a:ext cx="562356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7E7EB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0" y="166420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by Sub-Category</a:t>
            </a:r>
            <a:endParaRPr lang="en-US" sz="1200" dirty="0"/>
          </a:p>
        </p:txBody>
      </p:sp>
      <p:pic>
        <p:nvPicPr>
          <p:cNvPr id="9" name="Image 1" descr="/home/claude/myntra_ppt/cell_1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746" y="1956816"/>
            <a:ext cx="5062149" cy="34838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566928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FFE3F6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576072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31520" y="601675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 has 1,056 products (about 70%) and Footwear has 444 (about 30%), so the catalog is mostly clothing.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Shoes is the biggest sub-category (293 products). Sports Bras is the smallest (only 2 products).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 |  E-Commerce Data Analysis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· UNIVARIATE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&amp; Brand Distribution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2062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7E7EB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by Gender</a:t>
            </a:r>
            <a:endParaRPr lang="en-US" sz="1200" dirty="0"/>
          </a:p>
        </p:txBody>
      </p:sp>
      <p:pic>
        <p:nvPicPr>
          <p:cNvPr id="6" name="Image 0" descr="/home/claude/myntra_ppt/cell_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27083"/>
            <a:ext cx="3931920" cy="29775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92040" y="1463040"/>
            <a:ext cx="562356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7E7EB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0" y="157276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Brands by Product Count</a:t>
            </a:r>
            <a:endParaRPr lang="en-US" sz="1200" dirty="0"/>
          </a:p>
        </p:txBody>
      </p:sp>
      <p:pic>
        <p:nvPicPr>
          <p:cNvPr id="9" name="Image 1" descr="/home/claude/myntra_ppt/cell_1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48" y="1865376"/>
            <a:ext cx="3200344" cy="33009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5394960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FFE3F6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5486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31520" y="57424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products are slightly more than Men's products in the catalog.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Puma (121), Biba (120) and Adidas (120) lead the top 10 brands. No single brand dominates, the mix is fairly even.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 |  E-Commerce Data Analysis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· UNIVARIATE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&amp; Rating Distributions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7E7EB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64208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MRP</a:t>
            </a:r>
            <a:endParaRPr lang="en-US" sz="1200" dirty="0"/>
          </a:p>
        </p:txBody>
      </p:sp>
      <p:pic>
        <p:nvPicPr>
          <p:cNvPr id="6" name="Image 0" descr="/home/claude/myntra_ppt/cell_1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20857"/>
            <a:ext cx="4983480" cy="335578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5544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7E7EB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09360" y="1664208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Product Ratings</a:t>
            </a:r>
            <a:endParaRPr lang="en-US" sz="1200" dirty="0"/>
          </a:p>
        </p:txBody>
      </p:sp>
      <p:pic>
        <p:nvPicPr>
          <p:cNvPr id="9" name="Image 1" descr="/home/claude/myntra_ppt/cell_1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020857"/>
            <a:ext cx="4983480" cy="335578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56692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E3F6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57607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31520" y="60167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MRPs are between ₹2,000 and ₹3,000. Fewer products are listed as the price goes up toward ₹11,000 (skew 0.91).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stay between 4.1 and 4.6, with most around 4.4 to 4.5. They are balanced and mostly positive (skew −0.06).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 |  E-Commerce Data Analysis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· UNIVARIATE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&amp; Selling Price Distributions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7E7EB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64208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Discount Percentage</a:t>
            </a:r>
            <a:endParaRPr lang="en-US" sz="1200" dirty="0"/>
          </a:p>
        </p:txBody>
      </p:sp>
      <p:pic>
        <p:nvPicPr>
          <p:cNvPr id="6" name="Image 0" descr="/home/claude/myntra_ppt/cell_1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03" y="1956816"/>
            <a:ext cx="4811475" cy="34838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5544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7E7EB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09360" y="1664208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Selling Price</a:t>
            </a:r>
            <a:endParaRPr lang="en-US" sz="1200" dirty="0"/>
          </a:p>
        </p:txBody>
      </p:sp>
      <p:pic>
        <p:nvPicPr>
          <p:cNvPr id="9" name="Image 1" descr="/home/claude/myntra_ppt/cell_1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051666"/>
            <a:ext cx="4983480" cy="329416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56692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E3F6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57607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31520" y="60167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discounts are around 30–40%, and 40% is the most common. Discounts above 50% are rare.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products sell between ₹1,000 and ₹3,000. Very few sell above ₹5,000 (skew 0.98).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 |  E-Commerce Data Analysis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· UNIVARIATE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Count Distribution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7E7EB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6420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Rating Counts</a:t>
            </a:r>
            <a:endParaRPr lang="en-US" sz="1200" dirty="0"/>
          </a:p>
        </p:txBody>
      </p:sp>
      <p:pic>
        <p:nvPicPr>
          <p:cNvPr id="6" name="Image 0" descr="/home/claude/myntra_ppt/cell_1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91" y="1956816"/>
            <a:ext cx="5963138" cy="39867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0" y="155448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FFE3F6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0" y="16459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1901952"/>
            <a:ext cx="3931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products have 500–1,000 ratings. Only a few have more than 2,000 (skew 1.25).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top products show exactly 3,415 ratings because that was the cap set while handling outliers.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 few bestsellers get most of the ratings, while most products get far fewer.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 |  E-Commerce Data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· BIVARIATE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MRP vs. Selling Price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7E7EB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6420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Price vs. MRP (by Gender)</a:t>
            </a:r>
            <a:endParaRPr lang="en-US" sz="1200" dirty="0"/>
          </a:p>
        </p:txBody>
      </p:sp>
      <p:pic>
        <p:nvPicPr>
          <p:cNvPr id="6" name="Image 0" descr="/home/claude/myntra_ppt/cell_1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53" y="1956816"/>
            <a:ext cx="5997214" cy="39867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155448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FF54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0" y="17830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0.984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777240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score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(MRP and Selling Price)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3520440"/>
            <a:ext cx="3840480" cy="2514600"/>
          </a:xfrm>
          <a:prstGeom prst="roundRect">
            <a:avLst>
              <a:gd name="adj" fmla="val 2909"/>
            </a:avLst>
          </a:prstGeom>
          <a:solidFill>
            <a:srgbClr val="FFE3F6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0" y="3611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55280" y="3867912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MRP and Selling Price move together almost perfectly. When MRP goes up, Selling Price goes up too.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shows a similar discount pattern is used across the whole catalog.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Men's and Women's products follow the same pattern, with a few outliers.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 |  E-Commerce Data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· BIVARIATE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Engagement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7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7E7EB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64208"/>
            <a:ext cx="1082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vs. Rating Count</a:t>
            </a:r>
            <a:endParaRPr lang="en-US" sz="1200" dirty="0"/>
          </a:p>
        </p:txBody>
      </p:sp>
      <p:pic>
        <p:nvPicPr>
          <p:cNvPr id="6" name="Image 0" descr="/home/claude/myntra_ppt/cell_1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260" y="2042307"/>
            <a:ext cx="4983480" cy="331288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5669280"/>
            <a:ext cx="11094720" cy="868680"/>
          </a:xfrm>
          <a:prstGeom prst="roundRect">
            <a:avLst>
              <a:gd name="adj" fmla="val 8421"/>
            </a:avLst>
          </a:prstGeom>
          <a:solidFill>
            <a:srgbClr val="FFE3F6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57607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31520" y="60167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with higher ratings usually have more ratings. Products rated 4.4–4.6 show the widest range of rating counts.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 |  E-Commerce Data Analysis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· BRAND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Brands by Average Rating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7E7EB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6420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Brands by Average Rating</a:t>
            </a:r>
            <a:endParaRPr lang="en-US" sz="1200" dirty="0"/>
          </a:p>
        </p:txBody>
      </p:sp>
      <p:pic>
        <p:nvPicPr>
          <p:cNvPr id="6" name="Image 0" descr="/home/claude/myntra_ppt/cell_1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28015"/>
            <a:ext cx="6035040" cy="36443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86600" y="1600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RATED BRANDS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086600" y="1965960"/>
            <a:ext cx="4526280" cy="502920"/>
          </a:xfrm>
          <a:prstGeom prst="roundRect">
            <a:avLst>
              <a:gd name="adj" fmla="val 10909"/>
            </a:avLst>
          </a:prstGeom>
          <a:solidFill>
            <a:srgbClr val="F7F7F9"/>
          </a:solidFill>
          <a:ln/>
        </p:spPr>
      </p:sp>
      <p:sp>
        <p:nvSpPr>
          <p:cNvPr id="9" name="Text 6"/>
          <p:cNvSpPr/>
          <p:nvPr/>
        </p:nvSpPr>
        <p:spPr>
          <a:xfrm>
            <a:off x="7269480" y="19659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ASICS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058400" y="1965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4.67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086600" y="2587752"/>
            <a:ext cx="4526280" cy="502920"/>
          </a:xfrm>
          <a:prstGeom prst="roundRect">
            <a:avLst>
              <a:gd name="adj" fmla="val 10909"/>
            </a:avLst>
          </a:prstGeom>
          <a:solidFill>
            <a:srgbClr val="F7F7F9"/>
          </a:solidFill>
          <a:ln/>
        </p:spPr>
      </p:sp>
      <p:sp>
        <p:nvSpPr>
          <p:cNvPr id="12" name="Text 9"/>
          <p:cNvSpPr/>
          <p:nvPr/>
        </p:nvSpPr>
        <p:spPr>
          <a:xfrm>
            <a:off x="7269480" y="25877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Balance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058400" y="258775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4.59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086600" y="3209544"/>
            <a:ext cx="4526280" cy="502920"/>
          </a:xfrm>
          <a:prstGeom prst="roundRect">
            <a:avLst>
              <a:gd name="adj" fmla="val 10909"/>
            </a:avLst>
          </a:prstGeom>
          <a:solidFill>
            <a:srgbClr val="F7F7F9"/>
          </a:solidFill>
          <a:ln/>
        </p:spPr>
      </p:sp>
      <p:sp>
        <p:nvSpPr>
          <p:cNvPr id="15" name="Text 12"/>
          <p:cNvSpPr/>
          <p:nvPr/>
        </p:nvSpPr>
        <p:spPr>
          <a:xfrm>
            <a:off x="7269480" y="320954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Manyavar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0058400" y="320954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4.57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086600" y="3831336"/>
            <a:ext cx="4526280" cy="502920"/>
          </a:xfrm>
          <a:prstGeom prst="roundRect">
            <a:avLst>
              <a:gd name="adj" fmla="val 10909"/>
            </a:avLst>
          </a:prstGeom>
          <a:solidFill>
            <a:srgbClr val="F7F7F9"/>
          </a:solidFill>
          <a:ln/>
        </p:spPr>
      </p:sp>
      <p:sp>
        <p:nvSpPr>
          <p:cNvPr id="18" name="Text 15"/>
          <p:cNvSpPr/>
          <p:nvPr/>
        </p:nvSpPr>
        <p:spPr>
          <a:xfrm>
            <a:off x="7269480" y="383133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Skechers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0058400" y="383133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4.46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086600" y="4453128"/>
            <a:ext cx="4526280" cy="502920"/>
          </a:xfrm>
          <a:prstGeom prst="roundRect">
            <a:avLst>
              <a:gd name="adj" fmla="val 10909"/>
            </a:avLst>
          </a:prstGeom>
          <a:solidFill>
            <a:srgbClr val="F7F7F9"/>
          </a:solidFill>
          <a:ln/>
        </p:spPr>
      </p:sp>
      <p:sp>
        <p:nvSpPr>
          <p:cNvPr id="21" name="Text 18"/>
          <p:cNvSpPr/>
          <p:nvPr/>
        </p:nvSpPr>
        <p:spPr>
          <a:xfrm>
            <a:off x="7269480" y="445312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Fabindia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0058400" y="44531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4.45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086600" y="5303520"/>
            <a:ext cx="4526280" cy="777240"/>
          </a:xfrm>
          <a:prstGeom prst="roundRect">
            <a:avLst>
              <a:gd name="adj" fmla="val 9412"/>
            </a:avLst>
          </a:prstGeom>
          <a:solidFill>
            <a:srgbClr val="FFE3F6"/>
          </a:solidFill>
          <a:ln/>
        </p:spPr>
      </p:sp>
      <p:sp>
        <p:nvSpPr>
          <p:cNvPr id="24" name="Text 21"/>
          <p:cNvSpPr/>
          <p:nvPr/>
        </p:nvSpPr>
        <p:spPr>
          <a:xfrm>
            <a:off x="7269480" y="534924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9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269480" y="560527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top 10 average ratings are between 4.35 and 4.67, so quality looks consistently good across brands.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 |  E-Commerce Data Analysis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82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3304" y="281635"/>
            <a:ext cx="787267" cy="57058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0040">
                <a:alpha val="25000"/>
              </a:srgbClr>
            </a:outerShdw>
          </a:effectLst>
        </p:spPr>
      </p:sp>
      <p:pic>
        <p:nvPicPr>
          <p:cNvPr id="4" name="Image 0" descr="/home/claude/myntra_ppt/myntra_logo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84048"/>
            <a:ext cx="531235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343A52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801368"/>
            <a:ext cx="146304" cy="146304"/>
          </a:xfrm>
          <a:prstGeom prst="ellipse">
            <a:avLst/>
          </a:prstGeom>
          <a:solidFill>
            <a:srgbClr val="FF15B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01168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Mix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377440"/>
            <a:ext cx="30815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 makes up 70% and Footwear 30%. Sports Shoes is the biggest sub-category.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70248" y="16002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343A52"/>
          </a:solidFill>
          <a:ln/>
        </p:spPr>
      </p:sp>
      <p:sp>
        <p:nvSpPr>
          <p:cNvPr id="12" name="Shape 9"/>
          <p:cNvSpPr/>
          <p:nvPr/>
        </p:nvSpPr>
        <p:spPr>
          <a:xfrm>
            <a:off x="4498848" y="1801368"/>
            <a:ext cx="146304" cy="146304"/>
          </a:xfrm>
          <a:prstGeom prst="ellipse">
            <a:avLst/>
          </a:prstGeom>
          <a:solidFill>
            <a:srgbClr val="FF5400"/>
          </a:solidFill>
          <a:ln/>
        </p:spPr>
      </p:sp>
      <p:sp>
        <p:nvSpPr>
          <p:cNvPr id="13" name="Text 10"/>
          <p:cNvSpPr/>
          <p:nvPr/>
        </p:nvSpPr>
        <p:spPr>
          <a:xfrm>
            <a:off x="4498848" y="201168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Strategy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498848" y="2377440"/>
            <a:ext cx="30815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MRP and Selling Price are closely linked (0.984), so discounts follow a similar pattern across the catalog.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991856" y="16002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343A52"/>
          </a:solidFill>
          <a:ln/>
        </p:spPr>
      </p:sp>
      <p:sp>
        <p:nvSpPr>
          <p:cNvPr id="16" name="Shape 13"/>
          <p:cNvSpPr/>
          <p:nvPr/>
        </p:nvSpPr>
        <p:spPr>
          <a:xfrm>
            <a:off x="8220456" y="1801368"/>
            <a:ext cx="146304" cy="146304"/>
          </a:xfrm>
          <a:prstGeom prst="ellipse">
            <a:avLst/>
          </a:prstGeom>
          <a:solidFill>
            <a:srgbClr val="FF15B7"/>
          </a:solidFill>
          <a:ln/>
        </p:spPr>
      </p:sp>
      <p:sp>
        <p:nvSpPr>
          <p:cNvPr id="17" name="Text 14"/>
          <p:cNvSpPr/>
          <p:nvPr/>
        </p:nvSpPr>
        <p:spPr>
          <a:xfrm>
            <a:off x="8220456" y="201168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Discounting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0456" y="2377440"/>
            <a:ext cx="30815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products have a 30–40% discount. Discounts above 50% are rare.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374904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343A52"/>
          </a:solidFill>
          <a:ln/>
        </p:spPr>
      </p:sp>
      <p:sp>
        <p:nvSpPr>
          <p:cNvPr id="20" name="Shape 17"/>
          <p:cNvSpPr/>
          <p:nvPr/>
        </p:nvSpPr>
        <p:spPr>
          <a:xfrm>
            <a:off x="777240" y="3950208"/>
            <a:ext cx="146304" cy="146304"/>
          </a:xfrm>
          <a:prstGeom prst="ellipse">
            <a:avLst/>
          </a:prstGeom>
          <a:solidFill>
            <a:srgbClr val="FF5400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416052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Ratings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77240" y="4526280"/>
            <a:ext cx="30815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are high (4.1–4.6) across products and brands, so customers are mostly happy.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270248" y="374904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343A52"/>
          </a:solidFill>
          <a:ln/>
        </p:spPr>
      </p:sp>
      <p:sp>
        <p:nvSpPr>
          <p:cNvPr id="24" name="Shape 21"/>
          <p:cNvSpPr/>
          <p:nvPr/>
        </p:nvSpPr>
        <p:spPr>
          <a:xfrm>
            <a:off x="4498848" y="3950208"/>
            <a:ext cx="146304" cy="146304"/>
          </a:xfrm>
          <a:prstGeom prst="ellipse">
            <a:avLst/>
          </a:prstGeom>
          <a:solidFill>
            <a:srgbClr val="FF15B7"/>
          </a:solidFill>
          <a:ln/>
        </p:spPr>
      </p:sp>
      <p:sp>
        <p:nvSpPr>
          <p:cNvPr id="25" name="Text 22"/>
          <p:cNvSpPr/>
          <p:nvPr/>
        </p:nvSpPr>
        <p:spPr>
          <a:xfrm>
            <a:off x="4498848" y="416052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Landscape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498848" y="4526280"/>
            <a:ext cx="30815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brands (Puma, Biba, Adidas, Libas, Manyavar, Nike) have a similar share. No single brand dominates.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991856" y="374904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343A52"/>
          </a:solidFill>
          <a:ln/>
        </p:spPr>
      </p:sp>
      <p:sp>
        <p:nvSpPr>
          <p:cNvPr id="28" name="Shape 25"/>
          <p:cNvSpPr/>
          <p:nvPr/>
        </p:nvSpPr>
        <p:spPr>
          <a:xfrm>
            <a:off x="8220456" y="3950208"/>
            <a:ext cx="146304" cy="146304"/>
          </a:xfrm>
          <a:prstGeom prst="ellipse">
            <a:avLst/>
          </a:prstGeom>
          <a:solidFill>
            <a:srgbClr val="FF5400"/>
          </a:solidFill>
          <a:ln/>
        </p:spPr>
      </p:sp>
      <p:sp>
        <p:nvSpPr>
          <p:cNvPr id="29" name="Text 26"/>
          <p:cNvSpPr/>
          <p:nvPr/>
        </p:nvSpPr>
        <p:spPr>
          <a:xfrm>
            <a:off x="8220456" y="416052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Spread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8220456" y="4526280"/>
            <a:ext cx="30815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bestsellers get most of the ratings, while most products get far fewer.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 |  E-Commerce Data Analysis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 |  E-Commerce Data Analysis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3152" cy="548640"/>
          </a:xfrm>
          <a:prstGeom prst="roundRect">
            <a:avLst/>
          </a:prstGeom>
          <a:solidFill>
            <a:srgbClr val="FF15B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45336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is fully cleaned: no missing values and no duplicate rows across all 1,500 products and 11 columns.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13432"/>
            <a:ext cx="73152" cy="548640"/>
          </a:xfrm>
          <a:prstGeom prst="roundRect">
            <a:avLst/>
          </a:prstGeom>
          <a:solidFill>
            <a:srgbClr val="FF15B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58568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values (negative ratings, impossible rating counts, mixed category names) were fixed, and extreme values in MRP, Selling Price and Rating Count were capped using the IQR method.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26664"/>
            <a:ext cx="73152" cy="548640"/>
          </a:xfrm>
          <a:prstGeom prst="roundRect">
            <a:avLst/>
          </a:prstGeom>
          <a:solidFill>
            <a:srgbClr val="FF15B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7180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follow a steady pattern (MRP and Selling Price match at 0.984), not random discounts.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39896"/>
            <a:ext cx="73152" cy="548640"/>
          </a:xfrm>
          <a:prstGeom prst="roundRect">
            <a:avLst/>
          </a:prstGeom>
          <a:solidFill>
            <a:srgbClr val="FF15B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85032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are happy: most ratings are between 4.1 and 4.6 across brands and categories.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53128"/>
            <a:ext cx="73152" cy="548640"/>
          </a:xfrm>
          <a:prstGeom prst="roundRect">
            <a:avLst/>
          </a:prstGeom>
          <a:solidFill>
            <a:srgbClr val="FF15B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98264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 (70%) and Sports Shoes are the main part of the catalog, and a few bestsellers get most of the ratings.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73152" cy="548640"/>
          </a:xfrm>
          <a:prstGeom prst="roundRect">
            <a:avLst/>
          </a:prstGeom>
          <a:solidFill>
            <a:srgbClr val="FF15B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111496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clean data is now ready for the next step, like predicting ratings or demand from price and discount.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 |  E-Commerce Data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9C1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59596" y="1905610"/>
            <a:ext cx="1869760" cy="13551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0040">
                <a:alpha val="25000"/>
              </a:srgbClr>
            </a:outerShdw>
          </a:effectLst>
        </p:spPr>
      </p:sp>
      <p:pic>
        <p:nvPicPr>
          <p:cNvPr id="5" name="Image 0" descr="/home/claude/myntra_ppt/myntra_logo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634" y="2148840"/>
            <a:ext cx="1261684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3832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4251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1421</Words>
  <Application>Microsoft Office PowerPoint</Application>
  <PresentationFormat>Widescreen</PresentationFormat>
  <Paragraphs>254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Krunali Pujari</cp:lastModifiedBy>
  <cp:revision>3</cp:revision>
  <dcterms:created xsi:type="dcterms:W3CDTF">2026-09-24T09:35:11Z</dcterms:created>
  <dcterms:modified xsi:type="dcterms:W3CDTF">2026-10-10T07:02:18Z</dcterms:modified>
</cp:coreProperties>
</file>