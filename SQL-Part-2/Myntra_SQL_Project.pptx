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5942e44-6be5-b2c6-45d8-d7d5601d3ff2}">
          <p14:sldIdLst>
            <p14:sldId id="256"/>
            <p14:sldId id="257"/>
            <p14:sldId id="258"/>
          </p14:sldIdLst>
        </p14:section>
        <p14:section name="Queries" id="{d16588b4-917f-2fca-70c8-863fe0be89d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Wrap-up" id="{028bac13-01ca-c9b7-0d9c-387ce83b7682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RRY">
    <p:bg>
      <p:bgPr>
        <a:solidFill>
          <a:srgbClr val="9C1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">
    <p:bg>
      <p:bgPr>
        <a:solidFill>
          <a:srgbClr val="282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runali-pujari-ab6355343" TargetMode="External"/><Relationship Id="rId4" Type="http://schemas.openxmlformats.org/officeDocument/2006/relationships/hyperlink" Target="https://www.linkedin.com/in/krunali-pujari-ab6355343" TargetMode="External"/><Relationship Id="rId6" Type="http://schemas.openxmlformats.org/officeDocument/2006/relationships/hyperlink" Target="https://github.com/Krunali23" TargetMode="External"/><Relationship Id="rId7" Type="http://schemas.openxmlformats.org/officeDocument/2006/relationships/hyperlink" Target="https://github.com/Krunali23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5" Type="http://schemas.openxmlformats.org/officeDocument/2006/relationships/image" Target="../media/image-1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runali-pujari-ab6355343" TargetMode="External"/><Relationship Id="rId4" Type="http://schemas.openxmlformats.org/officeDocument/2006/relationships/hyperlink" Target="https://www.linkedin.com/in/krunali-pujari-ab6355343" TargetMode="External"/><Relationship Id="rId6" Type="http://schemas.openxmlformats.org/officeDocument/2006/relationships/hyperlink" Target="https://github.com/Krunali23" TargetMode="External"/><Relationship Id="rId7" Type="http://schemas.openxmlformats.org/officeDocument/2006/relationships/hyperlink" Target="https://github.com/Krunali23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5" Type="http://schemas.openxmlformats.org/officeDocument/2006/relationships/image" Target="../media/image-16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 top right"/>
          <p:cNvSpPr/>
          <p:nvPr/>
        </p:nvSpPr>
        <p:spPr>
          <a:xfrm>
            <a:off x="8961120" y="-1554480"/>
            <a:ext cx="4937760" cy="4937760"/>
          </a:xfrm>
          <a:prstGeom prst="ellipse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3" name="Circle bottom left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4" name="Logo badge"/>
          <p:cNvSpPr/>
          <p:nvPr/>
        </p:nvSpPr>
        <p:spPr>
          <a:xfrm>
            <a:off x="576072" y="347472"/>
            <a:ext cx="1216152" cy="886968"/>
          </a:xfrm>
          <a:prstGeom prst="roundRect">
            <a:avLst>
              <a:gd name="adj" fmla="val 25773"/>
            </a:avLst>
          </a:prstGeom>
          <a:solidFill>
            <a:schemeClr val="bg1"/>
          </a:solidFill>
          <a:ln/>
        </p:spPr>
      </p:sp>
      <p:pic>
        <p:nvPicPr>
          <p:cNvPr id="5" name="Myntra logo" descr="Myntr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822960" cy="566928"/>
          </a:xfrm>
          <a:prstGeom prst="rect">
            <a:avLst/>
          </a:prstGeom>
        </p:spPr>
      </p:pic>
      <p:sp>
        <p:nvSpPr>
          <p:cNvPr id="6" name="Kicker"/>
          <p:cNvSpPr txBox="1"/>
          <p:nvPr/>
        </p:nvSpPr>
        <p:spPr>
          <a:xfrm>
            <a:off x="6400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bg1"/>
                </a:solidFill>
              </a:rPr>
              <a:t>E-COMMERCE  DATA  ANALYSIS</a:t>
            </a:r>
            <a:endParaRPr lang="en-US" sz="1600" dirty="0"/>
          </a:p>
        </p:txBody>
      </p:sp>
      <p:sp>
        <p:nvSpPr>
          <p:cNvPr id="7" name="Title"/>
          <p:cNvSpPr txBox="1"/>
          <p:nvPr/>
        </p:nvSpPr>
        <p:spPr>
          <a:xfrm>
            <a:off x="594360" y="310896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Myntra Product Catalog: SQL Analysis</a:t>
            </a:r>
            <a:endParaRPr lang="en-US" sz="4200" dirty="0"/>
          </a:p>
        </p:txBody>
      </p:sp>
      <p:pic>
        <p:nvPicPr>
          <p:cNvPr id="8" name="LinkedIn logo" descr="LinkedIn logo">
            <a:hlinkClick r:id="rId3" tooltip="https://www.linkedin.com/in/krunali-pujari-ab635534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846320"/>
            <a:ext cx="457200" cy="457200"/>
          </a:xfrm>
          <a:prstGeom prst="rect">
            <a:avLst/>
          </a:prstGeom>
        </p:spPr>
      </p:pic>
      <p:sp>
        <p:nvSpPr>
          <p:cNvPr id="9" name="LinkedIn link">
            <a:hlinkClick r:id="rId4" tooltip="https://www.linkedin.com/in/krunali-pujari-ab6355343"/>
          </p:cNvPr>
          <p:cNvSpPr txBox="1"/>
          <p:nvPr/>
        </p:nvSpPr>
        <p:spPr>
          <a:xfrm>
            <a:off x="1234440" y="4846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bg1"/>
                </a:solidFill>
                <a:hlinkClick r:id="rId4" invalidUrl="" action="" tgtFrame="" tooltip="https://www.linkedin.com/in/krunali-pujari-ab635534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600" dirty="0"/>
          </a:p>
        </p:txBody>
      </p:sp>
      <p:pic>
        <p:nvPicPr>
          <p:cNvPr id="10" name="GitHub logo" descr="GitHub logo">
            <a:hlinkClick r:id="rId6" tooltip="https://github.com/Krunali2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4846320"/>
            <a:ext cx="457200" cy="457200"/>
          </a:xfrm>
          <a:prstGeom prst="rect">
            <a:avLst/>
          </a:prstGeom>
        </p:spPr>
      </p:pic>
      <p:sp>
        <p:nvSpPr>
          <p:cNvPr id="11" name="GitHub link">
            <a:hlinkClick r:id="rId7" tooltip="https://github.com/Krunali23"/>
          </p:cNvPr>
          <p:cNvSpPr txBox="1"/>
          <p:nvPr/>
        </p:nvSpPr>
        <p:spPr>
          <a:xfrm>
            <a:off x="3886200" y="4846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bg1"/>
                </a:solidFill>
                <a:hlinkClick r:id="rId7" invalidUrl="" action="" tgtFrame="" tooltip="https://github.com/Krunali2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4" name="Overview card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5" name="Overview label"/>
          <p:cNvSpPr txBox="1"/>
          <p:nvPr/>
        </p:nvSpPr>
        <p:spPr>
          <a:xfrm>
            <a:off x="91440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6" name="Overview text"/>
          <p:cNvSpPr txBox="1"/>
          <p:nvPr/>
        </p:nvSpPr>
        <p:spPr>
          <a:xfrm>
            <a:off x="914400" y="246888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This project analyses a cleaned dataset of 1,500 Myntra product listings covering clothing and footwear. The data is loaded into MySQL and explored with SQL queries to understand brands, prices, discounts and customer ratings.</a:t>
            </a:r>
            <a:endParaRPr lang="en-US" sz="1800" dirty="0"/>
          </a:p>
        </p:txBody>
      </p:sp>
      <p:sp>
        <p:nvSpPr>
          <p:cNvPr id="7" name="Objectives card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/>
        </p:spPr>
      </p:sp>
      <p:sp>
        <p:nvSpPr>
          <p:cNvPr id="8" name="Objectives label"/>
          <p:cNvSpPr txBox="1"/>
          <p:nvPr/>
        </p:nvSpPr>
        <p:spPr>
          <a:xfrm>
            <a:off x="662940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9" name="Objectives text"/>
          <p:cNvSpPr txBox="1"/>
          <p:nvPr/>
        </p:nvSpPr>
        <p:spPr>
          <a:xfrm>
            <a:off x="6629400" y="246888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Answer 10 business questions about Myntra products using SQL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Understand pricing, discounting and customer ratings across brands and categories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Turn query results into clear business insights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SQL Table: myntra_products</a:t>
            </a:r>
            <a:endParaRPr lang="en-US" sz="3000" dirty="0"/>
          </a:p>
        </p:txBody>
      </p:sp>
      <p:sp>
        <p:nvSpPr>
          <p:cNvPr id="4" name="Stat card 1"/>
          <p:cNvSpPr/>
          <p:nvPr/>
        </p:nvSpPr>
        <p:spPr>
          <a:xfrm>
            <a:off x="548640" y="1463040"/>
            <a:ext cx="26060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tat value 1"/>
          <p:cNvSpPr txBox="1"/>
          <p:nvPr/>
        </p:nvSpPr>
        <p:spPr>
          <a:xfrm>
            <a:off x="548640" y="1517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1,500</a:t>
            </a:r>
            <a:endParaRPr lang="en-US" sz="2600" dirty="0"/>
          </a:p>
        </p:txBody>
      </p:sp>
      <p:sp>
        <p:nvSpPr>
          <p:cNvPr id="6" name="Stat label 1"/>
          <p:cNvSpPr txBox="1"/>
          <p:nvPr/>
        </p:nvSpPr>
        <p:spPr>
          <a:xfrm>
            <a:off x="548640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Rows Loaded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3364992" y="1463040"/>
            <a:ext cx="26060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tat value 2"/>
          <p:cNvSpPr txBox="1"/>
          <p:nvPr/>
        </p:nvSpPr>
        <p:spPr>
          <a:xfrm>
            <a:off x="3364992" y="1517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11</a:t>
            </a:r>
            <a:endParaRPr lang="en-US" sz="2600" dirty="0"/>
          </a:p>
        </p:txBody>
      </p:sp>
      <p:sp>
        <p:nvSpPr>
          <p:cNvPr id="9" name="Stat label 2"/>
          <p:cNvSpPr txBox="1"/>
          <p:nvPr/>
        </p:nvSpPr>
        <p:spPr>
          <a:xfrm>
            <a:off x="3364992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Columns</a:t>
            </a:r>
            <a:endParaRPr lang="en-US" sz="1100" dirty="0"/>
          </a:p>
        </p:txBody>
      </p:sp>
      <p:sp>
        <p:nvSpPr>
          <p:cNvPr id="10" name="Stat card 3"/>
          <p:cNvSpPr/>
          <p:nvPr/>
        </p:nvSpPr>
        <p:spPr>
          <a:xfrm>
            <a:off x="6181344" y="1463040"/>
            <a:ext cx="26060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tat value 3"/>
          <p:cNvSpPr txBox="1"/>
          <p:nvPr/>
        </p:nvSpPr>
        <p:spPr>
          <a:xfrm>
            <a:off x="6181344" y="1517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20</a:t>
            </a:r>
            <a:endParaRPr lang="en-US" sz="2600" dirty="0"/>
          </a:p>
        </p:txBody>
      </p:sp>
      <p:sp>
        <p:nvSpPr>
          <p:cNvPr id="12" name="Stat label 3"/>
          <p:cNvSpPr txBox="1"/>
          <p:nvPr/>
        </p:nvSpPr>
        <p:spPr>
          <a:xfrm>
            <a:off x="6181344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Brands</a:t>
            </a:r>
            <a:endParaRPr lang="en-US" sz="1100" dirty="0"/>
          </a:p>
        </p:txBody>
      </p:sp>
      <p:sp>
        <p:nvSpPr>
          <p:cNvPr id="13" name="Stat card 4"/>
          <p:cNvSpPr/>
          <p:nvPr/>
        </p:nvSpPr>
        <p:spPr>
          <a:xfrm>
            <a:off x="8997696" y="1463040"/>
            <a:ext cx="26060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tat value 4"/>
          <p:cNvSpPr txBox="1"/>
          <p:nvPr/>
        </p:nvSpPr>
        <p:spPr>
          <a:xfrm>
            <a:off x="8997696" y="1517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24</a:t>
            </a:r>
            <a:endParaRPr lang="en-US" sz="2600" dirty="0"/>
          </a:p>
        </p:txBody>
      </p:sp>
      <p:sp>
        <p:nvSpPr>
          <p:cNvPr id="15" name="Stat label 4"/>
          <p:cNvSpPr txBox="1"/>
          <p:nvPr/>
        </p:nvSpPr>
        <p:spPr>
          <a:xfrm>
            <a:off x="8997696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Sub-Categories</a:t>
            </a:r>
            <a:endParaRPr lang="en-US" sz="1100" dirty="0"/>
          </a:p>
        </p:txBody>
      </p:sp>
      <p:sp>
        <p:nvSpPr>
          <p:cNvPr id="16" name="Table card"/>
          <p:cNvSpPr/>
          <p:nvPr/>
        </p:nvSpPr>
        <p:spPr>
          <a:xfrm>
            <a:off x="548640" y="2651760"/>
            <a:ext cx="7955280" cy="2806654"/>
          </a:xfrm>
          <a:prstGeom prst="roundRect">
            <a:avLst>
              <a:gd name="adj" fmla="val 3910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Table preview" descr="First 14 rows of the myntra_products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0"/>
            <a:ext cx="7772400" cy="2623774"/>
          </a:xfrm>
          <a:prstGeom prst="rect">
            <a:avLst/>
          </a:prstGeom>
        </p:spPr>
      </p:pic>
      <p:sp>
        <p:nvSpPr>
          <p:cNvPr id="18" name="Table caption"/>
          <p:cNvSpPr txBox="1"/>
          <p:nvPr/>
        </p:nvSpPr>
        <p:spPr>
          <a:xfrm>
            <a:off x="548640" y="554985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First 14 of 1,500 rows</a:t>
            </a:r>
            <a:endParaRPr lang="en-US" sz="1050" dirty="0"/>
          </a:p>
        </p:txBody>
      </p:sp>
      <p:sp>
        <p:nvSpPr>
          <p:cNvPr id="19" name="Code card"/>
          <p:cNvSpPr/>
          <p:nvPr/>
        </p:nvSpPr>
        <p:spPr>
          <a:xfrm>
            <a:off x="8686800" y="2651760"/>
            <a:ext cx="2971800" cy="2806654"/>
          </a:xfrm>
          <a:prstGeom prst="roundRect">
            <a:avLst>
              <a:gd name="adj" fmla="val 3910"/>
            </a:avLst>
          </a:prstGeom>
          <a:solidFill>
            <a:schemeClr val="tx1"/>
          </a:solidFill>
          <a:ln/>
        </p:spPr>
      </p:sp>
      <p:sp>
        <p:nvSpPr>
          <p:cNvPr id="20" name="Code label"/>
          <p:cNvSpPr txBox="1"/>
          <p:nvPr/>
        </p:nvSpPr>
        <p:spPr>
          <a:xfrm>
            <a:off x="891540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CREATE TABLE</a:t>
            </a:r>
            <a:endParaRPr lang="en-US" sz="1100" dirty="0"/>
          </a:p>
        </p:txBody>
      </p:sp>
      <p:sp>
        <p:nvSpPr>
          <p:cNvPr id="21" name="Code text"/>
          <p:cNvSpPr txBox="1"/>
          <p:nvPr/>
        </p:nvSpPr>
        <p:spPr>
          <a:xfrm>
            <a:off x="8915400" y="310896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myntra_products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Product_ID    VARCHAR(10),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Product_Name  VARCHAR(150),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Brand         VARCHAR(50),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Rating        DECIMAL(3,1),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Rating_Count  DECIMAL(10,0)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22" name="Note box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FFE3F6"/>
          </a:solidFill>
          <a:ln/>
        </p:spPr>
      </p:sp>
      <p:sp>
        <p:nvSpPr>
          <p:cNvPr id="23" name="Note text"/>
          <p:cNvSpPr txBox="1"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NOTE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Rating_Count is the number of customer ratings and is used as a sign of how popular a product 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Show Nike products priced above Rs 5,000, most expensive first</a:t>
            </a:r>
            <a:endParaRPr lang="en-US" sz="2200" dirty="0"/>
          </a:p>
        </p:txBody>
      </p:sp>
      <p:sp>
        <p:nvSpPr>
          <p:cNvPr id="3" name="Query heading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Query</a:t>
            </a:r>
            <a:endParaRPr lang="en-US" sz="1400" dirty="0"/>
          </a:p>
        </p:txBody>
      </p:sp>
      <p:sp>
        <p:nvSpPr>
          <p:cNvPr id="4" name="Query 1 frame"/>
          <p:cNvSpPr/>
          <p:nvPr/>
        </p:nvSpPr>
        <p:spPr>
          <a:xfrm>
            <a:off x="548640" y="1645920"/>
            <a:ext cx="7417620" cy="2075688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Query 1" descr="Query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00784"/>
            <a:ext cx="7307892" cy="1965960"/>
          </a:xfrm>
          <a:prstGeom prst="rect">
            <a:avLst/>
          </a:prstGeom>
        </p:spPr>
      </p:pic>
      <p:sp>
        <p:nvSpPr>
          <p:cNvPr id="6" name="Output heading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</a:t>
            </a:r>
            <a:endParaRPr lang="en-US" sz="1400" dirty="0"/>
          </a:p>
        </p:txBody>
      </p:sp>
      <p:sp>
        <p:nvSpPr>
          <p:cNvPr id="7" name="Output 1 frame"/>
          <p:cNvSpPr/>
          <p:nvPr/>
        </p:nvSpPr>
        <p:spPr>
          <a:xfrm>
            <a:off x="548640" y="4114800"/>
            <a:ext cx="6066003" cy="1664208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Output 1" descr="Output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169664"/>
            <a:ext cx="5956275" cy="1554480"/>
          </a:xfrm>
          <a:prstGeom prst="rect">
            <a:avLst/>
          </a:prstGeom>
        </p:spPr>
      </p:pic>
      <p:sp>
        <p:nvSpPr>
          <p:cNvPr id="9" name="Insight box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FFE3F6"/>
          </a:solidFill>
          <a:ln/>
        </p:spPr>
      </p:sp>
      <p:sp>
        <p:nvSpPr>
          <p:cNvPr id="10" name="Insight"/>
          <p:cNvSpPr txBox="1"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INSIGHT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4 Nike products cost more than Rs 5,000, and all of them are shoes rated 4.5 or higher.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Which brands do we sell?</a:t>
            </a:r>
            <a:endParaRPr lang="en-US" sz="2200" dirty="0"/>
          </a:p>
        </p:txBody>
      </p:sp>
      <p:sp>
        <p:nvSpPr>
          <p:cNvPr id="3" name="Query heading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Query</a:t>
            </a:r>
            <a:endParaRPr lang="en-US" sz="1400" dirty="0"/>
          </a:p>
        </p:txBody>
      </p:sp>
      <p:sp>
        <p:nvSpPr>
          <p:cNvPr id="4" name="Query 2 frame"/>
          <p:cNvSpPr/>
          <p:nvPr/>
        </p:nvSpPr>
        <p:spPr>
          <a:xfrm>
            <a:off x="548640" y="1645920"/>
            <a:ext cx="3675888" cy="1609344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Query 2" descr="Query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00784"/>
            <a:ext cx="3566160" cy="1499616"/>
          </a:xfrm>
          <a:prstGeom prst="rect">
            <a:avLst/>
          </a:prstGeom>
        </p:spPr>
      </p:pic>
      <p:sp>
        <p:nvSpPr>
          <p:cNvPr id="6" name="Stat card"/>
          <p:cNvSpPr/>
          <p:nvPr/>
        </p:nvSpPr>
        <p:spPr>
          <a:xfrm>
            <a:off x="548640" y="361188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Stat text"/>
          <p:cNvSpPr txBox="1"/>
          <p:nvPr/>
        </p:nvSpPr>
        <p:spPr>
          <a:xfrm>
            <a:off x="548640" y="361188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20</a:t>
            </a:r>
            <a:endParaRPr lang="en-US" sz="6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unique brands in the catalog</a:t>
            </a:r>
            <a:endParaRPr lang="en-US" sz="6000" dirty="0"/>
          </a:p>
        </p:txBody>
      </p:sp>
      <p:sp>
        <p:nvSpPr>
          <p:cNvPr id="8" name="Output heading"/>
          <p:cNvSpPr txBox="1"/>
          <p:nvPr/>
        </p:nvSpPr>
        <p:spPr>
          <a:xfrm>
            <a:off x="5120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</a:t>
            </a:r>
            <a:endParaRPr lang="en-US" sz="1400" dirty="0"/>
          </a:p>
        </p:txBody>
      </p:sp>
      <p:sp>
        <p:nvSpPr>
          <p:cNvPr id="9" name="Output 2 frame"/>
          <p:cNvSpPr/>
          <p:nvPr/>
        </p:nvSpPr>
        <p:spPr>
          <a:xfrm>
            <a:off x="5120640" y="1645920"/>
            <a:ext cx="1165741" cy="4133088"/>
          </a:xfrm>
          <a:prstGeom prst="roundRect">
            <a:avLst>
              <a:gd name="adj" fmla="val 9413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Output 2" descr="Outpu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700784"/>
            <a:ext cx="1056013" cy="4023360"/>
          </a:xfrm>
          <a:prstGeom prst="rect">
            <a:avLst/>
          </a:prstGeom>
        </p:spPr>
      </p:pic>
      <p:sp>
        <p:nvSpPr>
          <p:cNvPr id="11" name="Insight box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FFE3F6"/>
          </a:solidFill>
          <a:ln/>
        </p:spPr>
      </p:sp>
      <p:sp>
        <p:nvSpPr>
          <p:cNvPr id="12" name="Insight"/>
          <p:cNvSpPr txBox="1"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INSIGHT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catalog has 20 unique brands.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many products and what average price does each category have?</a:t>
            </a:r>
            <a:endParaRPr lang="en-US" sz="2200" dirty="0"/>
          </a:p>
        </p:txBody>
      </p:sp>
      <p:sp>
        <p:nvSpPr>
          <p:cNvPr id="3" name="Query heading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Query</a:t>
            </a:r>
            <a:endParaRPr lang="en-US" sz="1400" dirty="0"/>
          </a:p>
        </p:txBody>
      </p:sp>
      <p:sp>
        <p:nvSpPr>
          <p:cNvPr id="4" name="Query 3 frame"/>
          <p:cNvSpPr/>
          <p:nvPr/>
        </p:nvSpPr>
        <p:spPr>
          <a:xfrm>
            <a:off x="548640" y="1645920"/>
            <a:ext cx="6660242" cy="2075688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Query 3" descr="Query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00784"/>
            <a:ext cx="6550514" cy="1965960"/>
          </a:xfrm>
          <a:prstGeom prst="rect">
            <a:avLst/>
          </a:prstGeom>
        </p:spPr>
      </p:pic>
      <p:sp>
        <p:nvSpPr>
          <p:cNvPr id="6" name="Output heading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</a:t>
            </a:r>
            <a:endParaRPr lang="en-US" sz="1400" dirty="0"/>
          </a:p>
        </p:txBody>
      </p:sp>
      <p:sp>
        <p:nvSpPr>
          <p:cNvPr id="7" name="Output 3 frame"/>
          <p:cNvSpPr/>
          <p:nvPr/>
        </p:nvSpPr>
        <p:spPr>
          <a:xfrm>
            <a:off x="548640" y="4114800"/>
            <a:ext cx="4636008" cy="1225296"/>
          </a:xfrm>
          <a:prstGeom prst="roundRect">
            <a:avLst>
              <a:gd name="adj" fmla="val 8955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Output 3" descr="Output 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169664"/>
            <a:ext cx="4526280" cy="1115568"/>
          </a:xfrm>
          <a:prstGeom prst="rect">
            <a:avLst/>
          </a:prstGeom>
        </p:spPr>
      </p:pic>
      <p:sp>
        <p:nvSpPr>
          <p:cNvPr id="9" name="Insight box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FFE3F6"/>
          </a:solidFill>
          <a:ln/>
        </p:spPr>
      </p:sp>
      <p:sp>
        <p:nvSpPr>
          <p:cNvPr id="10" name="Insight"/>
          <p:cNvSpPr txBox="1"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INSIGHT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Footwear has fewer products (441 vs 1,059) but costs more than twice as much on average (4,551 vs 1,995).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Which brands have more than 100 products?</a:t>
            </a:r>
            <a:endParaRPr lang="en-US" sz="2200" dirty="0"/>
          </a:p>
        </p:txBody>
      </p:sp>
      <p:sp>
        <p:nvSpPr>
          <p:cNvPr id="3" name="Query heading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Query</a:t>
            </a:r>
            <a:endParaRPr lang="en-US" sz="1400" dirty="0"/>
          </a:p>
        </p:txBody>
      </p:sp>
      <p:sp>
        <p:nvSpPr>
          <p:cNvPr id="4" name="Query 4 frame"/>
          <p:cNvSpPr/>
          <p:nvPr/>
        </p:nvSpPr>
        <p:spPr>
          <a:xfrm>
            <a:off x="548640" y="1645920"/>
            <a:ext cx="5653091" cy="2075688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Query 4" descr="Query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00784"/>
            <a:ext cx="5543363" cy="1965960"/>
          </a:xfrm>
          <a:prstGeom prst="rect">
            <a:avLst/>
          </a:prstGeom>
        </p:spPr>
      </p:pic>
      <p:sp>
        <p:nvSpPr>
          <p:cNvPr id="6" name="Output heading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</a:t>
            </a:r>
            <a:endParaRPr lang="en-US" sz="1400" dirty="0"/>
          </a:p>
        </p:txBody>
      </p:sp>
      <p:sp>
        <p:nvSpPr>
          <p:cNvPr id="7" name="Output 4 frame"/>
          <p:cNvSpPr/>
          <p:nvPr/>
        </p:nvSpPr>
        <p:spPr>
          <a:xfrm>
            <a:off x="548640" y="4114800"/>
            <a:ext cx="2121732" cy="1664208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Output 4" descr="Output 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169664"/>
            <a:ext cx="2012004" cy="1554480"/>
          </a:xfrm>
          <a:prstGeom prst="rect">
            <a:avLst/>
          </a:prstGeom>
        </p:spPr>
      </p:pic>
      <p:sp>
        <p:nvSpPr>
          <p:cNvPr id="9" name="Insight box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FFE3F6"/>
          </a:solidFill>
          <a:ln/>
        </p:spPr>
      </p:sp>
      <p:sp>
        <p:nvSpPr>
          <p:cNvPr id="10" name="Insight"/>
          <p:cNvSpPr txBox="1"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INSIGHT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Six brands have more than 100 products, and Puma leads with 121.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Label every product as Budget, Mid-range or Premium</a:t>
            </a:r>
            <a:endParaRPr lang="en-US" sz="2200" dirty="0"/>
          </a:p>
        </p:txBody>
      </p:sp>
      <p:sp>
        <p:nvSpPr>
          <p:cNvPr id="3" name="Query heading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Query</a:t>
            </a:r>
            <a:endParaRPr lang="en-US" sz="1400" dirty="0"/>
          </a:p>
        </p:txBody>
      </p:sp>
      <p:sp>
        <p:nvSpPr>
          <p:cNvPr id="4" name="Query 5 frame"/>
          <p:cNvSpPr/>
          <p:nvPr/>
        </p:nvSpPr>
        <p:spPr>
          <a:xfrm>
            <a:off x="548640" y="1645920"/>
            <a:ext cx="5613202" cy="2075688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Query 5" descr="Query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00784"/>
            <a:ext cx="5503474" cy="1965960"/>
          </a:xfrm>
          <a:prstGeom prst="rect">
            <a:avLst/>
          </a:prstGeom>
        </p:spPr>
      </p:pic>
      <p:sp>
        <p:nvSpPr>
          <p:cNvPr id="6" name="Output heading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</a:t>
            </a:r>
            <a:endParaRPr lang="en-US" sz="1400" dirty="0"/>
          </a:p>
        </p:txBody>
      </p:sp>
      <p:sp>
        <p:nvSpPr>
          <p:cNvPr id="7" name="Output 5 frame"/>
          <p:cNvSpPr/>
          <p:nvPr/>
        </p:nvSpPr>
        <p:spPr>
          <a:xfrm>
            <a:off x="548640" y="4114800"/>
            <a:ext cx="3547872" cy="1591056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Output 5" descr="Output 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169664"/>
            <a:ext cx="3438144" cy="1481328"/>
          </a:xfrm>
          <a:prstGeom prst="rect">
            <a:avLst/>
          </a:prstGeom>
        </p:spPr>
      </p:pic>
      <p:sp>
        <p:nvSpPr>
          <p:cNvPr id="9" name="Insight box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FFE3F6"/>
          </a:solidFill>
          <a:ln/>
        </p:spPr>
      </p:sp>
      <p:sp>
        <p:nvSpPr>
          <p:cNvPr id="10" name="Insight"/>
          <p:cNvSpPr txBox="1"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INSIGHT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Mid-range is the biggest group with 774 products, followed by Budget (392) and Premium (334).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Do heavily discounted products (40% or more) get lower ratings?</a:t>
            </a:r>
            <a:endParaRPr lang="en-US" sz="2200" dirty="0"/>
          </a:p>
        </p:txBody>
      </p:sp>
      <p:sp>
        <p:nvSpPr>
          <p:cNvPr id="3" name="Query heading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Query</a:t>
            </a:r>
            <a:endParaRPr lang="en-US" sz="1400" dirty="0"/>
          </a:p>
        </p:txBody>
      </p:sp>
      <p:sp>
        <p:nvSpPr>
          <p:cNvPr id="4" name="Query 6 frame"/>
          <p:cNvSpPr/>
          <p:nvPr/>
        </p:nvSpPr>
        <p:spPr>
          <a:xfrm>
            <a:off x="548640" y="1645920"/>
            <a:ext cx="6602934" cy="2075688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Query 6" descr="Query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00784"/>
            <a:ext cx="6493206" cy="1965960"/>
          </a:xfrm>
          <a:prstGeom prst="rect">
            <a:avLst/>
          </a:prstGeom>
        </p:spPr>
      </p:pic>
      <p:sp>
        <p:nvSpPr>
          <p:cNvPr id="6" name="Output heading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</a:t>
            </a:r>
            <a:endParaRPr lang="en-US" sz="1400" dirty="0"/>
          </a:p>
        </p:txBody>
      </p:sp>
      <p:sp>
        <p:nvSpPr>
          <p:cNvPr id="7" name="Output 6 frame"/>
          <p:cNvSpPr/>
          <p:nvPr/>
        </p:nvSpPr>
        <p:spPr>
          <a:xfrm>
            <a:off x="548640" y="4114800"/>
            <a:ext cx="5358384" cy="1225296"/>
          </a:xfrm>
          <a:prstGeom prst="roundRect">
            <a:avLst>
              <a:gd name="adj" fmla="val 8955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Output 6" descr="Output 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169664"/>
            <a:ext cx="5248656" cy="1115568"/>
          </a:xfrm>
          <a:prstGeom prst="rect">
            <a:avLst/>
          </a:prstGeom>
        </p:spPr>
      </p:pic>
      <p:sp>
        <p:nvSpPr>
          <p:cNvPr id="9" name="Insight box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FFE3F6"/>
          </a:solidFill>
          <a:ln/>
        </p:spPr>
      </p:sp>
      <p:sp>
        <p:nvSpPr>
          <p:cNvPr id="10" name="Insight"/>
          <p:cNvSpPr txBox="1"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INSIGHT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Products with 40%+ discount average 4.28 stars against 4.48 for the rest, so deeper discounts do not mean better ratings.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Rank brands by total customer ratings</a:t>
            </a:r>
            <a:endParaRPr lang="en-US" sz="2200" dirty="0"/>
          </a:p>
        </p:txBody>
      </p:sp>
      <p:sp>
        <p:nvSpPr>
          <p:cNvPr id="3" name="Query heading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Query</a:t>
            </a:r>
            <a:endParaRPr lang="en-US" sz="1400" dirty="0"/>
          </a:p>
        </p:txBody>
      </p:sp>
      <p:sp>
        <p:nvSpPr>
          <p:cNvPr id="4" name="Query 7 frame"/>
          <p:cNvSpPr/>
          <p:nvPr/>
        </p:nvSpPr>
        <p:spPr>
          <a:xfrm>
            <a:off x="548640" y="1645920"/>
            <a:ext cx="6753945" cy="2075688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Query 7" descr="Query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00784"/>
            <a:ext cx="6644217" cy="1965960"/>
          </a:xfrm>
          <a:prstGeom prst="rect">
            <a:avLst/>
          </a:prstGeom>
        </p:spPr>
      </p:pic>
      <p:sp>
        <p:nvSpPr>
          <p:cNvPr id="6" name="Output heading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</a:t>
            </a:r>
            <a:endParaRPr lang="en-US" sz="1400" dirty="0"/>
          </a:p>
        </p:txBody>
      </p:sp>
      <p:sp>
        <p:nvSpPr>
          <p:cNvPr id="7" name="Output 7 frame"/>
          <p:cNvSpPr/>
          <p:nvPr/>
        </p:nvSpPr>
        <p:spPr>
          <a:xfrm>
            <a:off x="548640" y="4114800"/>
            <a:ext cx="3494897" cy="1664208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Output 7" descr="Output 7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169664"/>
            <a:ext cx="3385169" cy="1554480"/>
          </a:xfrm>
          <a:prstGeom prst="rect">
            <a:avLst/>
          </a:prstGeom>
        </p:spPr>
      </p:pic>
      <p:sp>
        <p:nvSpPr>
          <p:cNvPr id="9" name="Insight box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FFE3F6"/>
          </a:solidFill>
          <a:ln/>
        </p:spPr>
      </p:sp>
      <p:sp>
        <p:nvSpPr>
          <p:cNvPr id="10" name="Insight"/>
          <p:cNvSpPr txBox="1"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INSIGHT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Nike ranks first with 236,630 ratings, followed by Adidas (220,385) and ASICS (190,355).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Show a brand’s 5 most-rated products</a:t>
            </a:r>
            <a:endParaRPr lang="en-US" sz="2200" dirty="0"/>
          </a:p>
        </p:txBody>
      </p:sp>
      <p:sp>
        <p:nvSpPr>
          <p:cNvPr id="3" name="Query heading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Query</a:t>
            </a:r>
            <a:endParaRPr lang="en-US" sz="1400" dirty="0"/>
          </a:p>
        </p:txBody>
      </p:sp>
      <p:sp>
        <p:nvSpPr>
          <p:cNvPr id="4" name="Query 8 frame"/>
          <p:cNvSpPr/>
          <p:nvPr/>
        </p:nvSpPr>
        <p:spPr>
          <a:xfrm>
            <a:off x="548640" y="1645920"/>
            <a:ext cx="6236208" cy="3507304"/>
          </a:xfrm>
          <a:prstGeom prst="roundRect">
            <a:avLst>
              <a:gd name="adj" fmla="val 3129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Query 8" descr="Query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00784"/>
            <a:ext cx="6126480" cy="3397576"/>
          </a:xfrm>
          <a:prstGeom prst="rect">
            <a:avLst/>
          </a:prstGeom>
        </p:spPr>
      </p:pic>
      <p:sp>
        <p:nvSpPr>
          <p:cNvPr id="6" name="Output heading"/>
          <p:cNvSpPr txBox="1"/>
          <p:nvPr/>
        </p:nvSpPr>
        <p:spPr>
          <a:xfrm>
            <a:off x="699516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</a:t>
            </a:r>
            <a:endParaRPr lang="en-US" sz="1400" dirty="0"/>
          </a:p>
        </p:txBody>
      </p:sp>
      <p:sp>
        <p:nvSpPr>
          <p:cNvPr id="7" name="Output 8 frame"/>
          <p:cNvSpPr/>
          <p:nvPr/>
        </p:nvSpPr>
        <p:spPr>
          <a:xfrm>
            <a:off x="6995160" y="1645920"/>
            <a:ext cx="4681728" cy="1301995"/>
          </a:xfrm>
          <a:prstGeom prst="roundRect">
            <a:avLst>
              <a:gd name="adj" fmla="val 8428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Output 8" descr="Output 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700784"/>
            <a:ext cx="4572000" cy="1192267"/>
          </a:xfrm>
          <a:prstGeom prst="rect">
            <a:avLst/>
          </a:prstGeom>
        </p:spPr>
      </p:pic>
      <p:sp>
        <p:nvSpPr>
          <p:cNvPr id="9" name="Stat card"/>
          <p:cNvSpPr/>
          <p:nvPr/>
        </p:nvSpPr>
        <p:spPr>
          <a:xfrm>
            <a:off x="6995160" y="3304531"/>
            <a:ext cx="4663440" cy="1848693"/>
          </a:xfrm>
          <a:prstGeom prst="roundRect">
            <a:avLst>
              <a:gd name="adj" fmla="val 5935"/>
            </a:avLst>
          </a:prstGeom>
          <a:solidFill>
            <a:schemeClr val="tx1"/>
          </a:solidFill>
          <a:ln/>
        </p:spPr>
      </p:sp>
      <p:sp>
        <p:nvSpPr>
          <p:cNvPr id="10" name="Stat text"/>
          <p:cNvSpPr txBox="1"/>
          <p:nvPr/>
        </p:nvSpPr>
        <p:spPr>
          <a:xfrm>
            <a:off x="6995160" y="3304531"/>
            <a:ext cx="4663440" cy="1848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3,310</a:t>
            </a:r>
            <a:endParaRPr lang="en-US" sz="5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ratings on Nike's most-rated product</a:t>
            </a:r>
            <a:endParaRPr lang="en-US" sz="5400" dirty="0"/>
          </a:p>
        </p:txBody>
      </p:sp>
      <p:sp>
        <p:nvSpPr>
          <p:cNvPr id="11" name="Insight box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FFE3F6"/>
          </a:solidFill>
          <a:ln/>
        </p:spPr>
      </p:sp>
      <p:sp>
        <p:nvSpPr>
          <p:cNvPr id="12" name="Insight"/>
          <p:cNvSpPr txBox="1"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INSIGHT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 of Nike's 5 most-rated products are women's sports shoes. Change the brand name in CALL to see any other brand.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How many products per category cost more than the overall average price?</a:t>
            </a:r>
            <a:endParaRPr lang="en-US" sz="2200" dirty="0"/>
          </a:p>
        </p:txBody>
      </p:sp>
      <p:sp>
        <p:nvSpPr>
          <p:cNvPr id="3" name="Query heading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Query</a:t>
            </a:r>
            <a:endParaRPr lang="en-US" sz="1400" dirty="0"/>
          </a:p>
        </p:txBody>
      </p:sp>
      <p:sp>
        <p:nvSpPr>
          <p:cNvPr id="4" name="Query 9 frame"/>
          <p:cNvSpPr/>
          <p:nvPr/>
        </p:nvSpPr>
        <p:spPr>
          <a:xfrm>
            <a:off x="548640" y="1645920"/>
            <a:ext cx="10689336" cy="1975104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Query 9" descr="Query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00784"/>
            <a:ext cx="10579608" cy="1865376"/>
          </a:xfrm>
          <a:prstGeom prst="rect">
            <a:avLst/>
          </a:prstGeom>
        </p:spPr>
      </p:pic>
      <p:sp>
        <p:nvSpPr>
          <p:cNvPr id="6" name="Output heading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</a:t>
            </a:r>
            <a:endParaRPr lang="en-US" sz="1400" dirty="0"/>
          </a:p>
        </p:txBody>
      </p:sp>
      <p:sp>
        <p:nvSpPr>
          <p:cNvPr id="7" name="Output 9 frame"/>
          <p:cNvSpPr/>
          <p:nvPr/>
        </p:nvSpPr>
        <p:spPr>
          <a:xfrm>
            <a:off x="548640" y="4114800"/>
            <a:ext cx="3950208" cy="1225296"/>
          </a:xfrm>
          <a:prstGeom prst="roundRect">
            <a:avLst>
              <a:gd name="adj" fmla="val 8955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Output 9" descr="Output 9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169664"/>
            <a:ext cx="3840480" cy="1115568"/>
          </a:xfrm>
          <a:prstGeom prst="rect">
            <a:avLst/>
          </a:prstGeom>
        </p:spPr>
      </p:pic>
      <p:sp>
        <p:nvSpPr>
          <p:cNvPr id="9" name="Insight box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FFE3F6"/>
          </a:solidFill>
          <a:ln/>
        </p:spPr>
      </p:sp>
      <p:sp>
        <p:nvSpPr>
          <p:cNvPr id="10" name="Insight"/>
          <p:cNvSpPr txBox="1"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INSIGHT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421 of 441 footwear products sit above the overall average price, against 123 of 1,059 clothing products.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Show only brands whose average rating is above 4.5</a:t>
            </a:r>
            <a:endParaRPr lang="en-US" sz="2200" dirty="0"/>
          </a:p>
        </p:txBody>
      </p:sp>
      <p:sp>
        <p:nvSpPr>
          <p:cNvPr id="3" name="Query heading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Query</a:t>
            </a:r>
            <a:endParaRPr lang="en-US" sz="1400" dirty="0"/>
          </a:p>
        </p:txBody>
      </p:sp>
      <p:sp>
        <p:nvSpPr>
          <p:cNvPr id="4" name="Query 10 frame"/>
          <p:cNvSpPr/>
          <p:nvPr/>
        </p:nvSpPr>
        <p:spPr>
          <a:xfrm>
            <a:off x="548640" y="1645920"/>
            <a:ext cx="4375376" cy="2075688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Query 10" descr="Query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00784"/>
            <a:ext cx="4265648" cy="1965960"/>
          </a:xfrm>
          <a:prstGeom prst="rect">
            <a:avLst/>
          </a:prstGeom>
        </p:spPr>
      </p:pic>
      <p:sp>
        <p:nvSpPr>
          <p:cNvPr id="6" name="Output heading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</a:t>
            </a:r>
            <a:endParaRPr lang="en-US" sz="1400" dirty="0"/>
          </a:p>
        </p:txBody>
      </p:sp>
      <p:sp>
        <p:nvSpPr>
          <p:cNvPr id="7" name="Output 10 frame"/>
          <p:cNvSpPr/>
          <p:nvPr/>
        </p:nvSpPr>
        <p:spPr>
          <a:xfrm>
            <a:off x="548640" y="4114800"/>
            <a:ext cx="3721608" cy="1591056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Output 10" descr="Output 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169664"/>
            <a:ext cx="3611880" cy="1481328"/>
          </a:xfrm>
          <a:prstGeom prst="rect">
            <a:avLst/>
          </a:prstGeom>
        </p:spPr>
      </p:pic>
      <p:sp>
        <p:nvSpPr>
          <p:cNvPr id="9" name="Insight box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FFE3F6"/>
          </a:solidFill>
          <a:ln/>
        </p:spPr>
      </p:sp>
      <p:sp>
        <p:nvSpPr>
          <p:cNvPr id="10" name="Insight"/>
          <p:cNvSpPr txBox="1"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INSIGHT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3 of the 20 brands (ASICS, Manyavar and New Balance) average above 4.5 stars.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badge"/>
          <p:cNvSpPr/>
          <p:nvPr/>
        </p:nvSpPr>
        <p:spPr>
          <a:xfrm>
            <a:off x="10433304" y="283464"/>
            <a:ext cx="786384" cy="566928"/>
          </a:xfrm>
          <a:prstGeom prst="roundRect">
            <a:avLst>
              <a:gd name="adj" fmla="val 40323"/>
            </a:avLst>
          </a:prstGeom>
          <a:solidFill>
            <a:schemeClr val="bg1"/>
          </a:solidFill>
          <a:ln/>
        </p:spPr>
      </p:sp>
      <p:pic>
        <p:nvPicPr>
          <p:cNvPr id="3" name="Myntra logo" descr="Myntr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384048"/>
            <a:ext cx="530352" cy="3657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 from the SQL Analysis</a:t>
            </a:r>
            <a:endParaRPr lang="en-US" sz="3000" dirty="0"/>
          </a:p>
        </p:txBody>
      </p:sp>
      <p:sp>
        <p:nvSpPr>
          <p:cNvPr id="6" name="Tile 1"/>
          <p:cNvSpPr/>
          <p:nvPr/>
        </p:nvSpPr>
        <p:spPr>
          <a:xfrm>
            <a:off x="548640" y="1600200"/>
            <a:ext cx="3538728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7" name="Dot 1"/>
          <p:cNvSpPr/>
          <p:nvPr/>
        </p:nvSpPr>
        <p:spPr>
          <a:xfrm>
            <a:off x="777240" y="180136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ile title 1"/>
          <p:cNvSpPr txBox="1"/>
          <p:nvPr/>
        </p:nvSpPr>
        <p:spPr>
          <a:xfrm>
            <a:off x="777240" y="20116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Pricing</a:t>
            </a:r>
            <a:endParaRPr lang="en-US" sz="1500" dirty="0"/>
          </a:p>
        </p:txBody>
      </p:sp>
      <p:sp>
        <p:nvSpPr>
          <p:cNvPr id="9" name="Tile text 1"/>
          <p:cNvSpPr txBox="1"/>
          <p:nvPr/>
        </p:nvSpPr>
        <p:spPr>
          <a:xfrm>
            <a:off x="777240" y="2404872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9E4"/>
                </a:solidFill>
              </a:rPr>
              <a:t>Footwear averages Rs 4,551 against Rs 1,995 for clothing, and 421 of 441 footwear items sit above the overall average price.</a:t>
            </a:r>
            <a:endParaRPr lang="en-US" sz="1150" dirty="0"/>
          </a:p>
        </p:txBody>
      </p:sp>
      <p:sp>
        <p:nvSpPr>
          <p:cNvPr id="10" name="Tile 2"/>
          <p:cNvSpPr/>
          <p:nvPr/>
        </p:nvSpPr>
        <p:spPr>
          <a:xfrm>
            <a:off x="4270248" y="1600200"/>
            <a:ext cx="3538728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11" name="Dot 2"/>
          <p:cNvSpPr/>
          <p:nvPr/>
        </p:nvSpPr>
        <p:spPr>
          <a:xfrm>
            <a:off x="4498848" y="180136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ile title 2"/>
          <p:cNvSpPr txBox="1"/>
          <p:nvPr/>
        </p:nvSpPr>
        <p:spPr>
          <a:xfrm>
            <a:off x="4498848" y="20116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Price Segments</a:t>
            </a:r>
            <a:endParaRPr lang="en-US" sz="1500" dirty="0"/>
          </a:p>
        </p:txBody>
      </p:sp>
      <p:sp>
        <p:nvSpPr>
          <p:cNvPr id="13" name="Tile text 2"/>
          <p:cNvSpPr txBox="1"/>
          <p:nvPr/>
        </p:nvSpPr>
        <p:spPr>
          <a:xfrm>
            <a:off x="4498848" y="2404872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9E4"/>
                </a:solidFill>
              </a:rPr>
              <a:t>Mid-range (Rs 1,500 to 3,999) is the largest group with 774 of the 1,500 products.</a:t>
            </a:r>
            <a:endParaRPr lang="en-US" sz="1150" dirty="0"/>
          </a:p>
        </p:txBody>
      </p:sp>
      <p:sp>
        <p:nvSpPr>
          <p:cNvPr id="14" name="Tile 3"/>
          <p:cNvSpPr/>
          <p:nvPr/>
        </p:nvSpPr>
        <p:spPr>
          <a:xfrm>
            <a:off x="7991856" y="1600200"/>
            <a:ext cx="3538728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15" name="Dot 3"/>
          <p:cNvSpPr/>
          <p:nvPr/>
        </p:nvSpPr>
        <p:spPr>
          <a:xfrm>
            <a:off x="8220456" y="180136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ile title 3"/>
          <p:cNvSpPr txBox="1"/>
          <p:nvPr/>
        </p:nvSpPr>
        <p:spPr>
          <a:xfrm>
            <a:off x="8220456" y="20116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Discounting</a:t>
            </a:r>
            <a:endParaRPr lang="en-US" sz="1500" dirty="0"/>
          </a:p>
        </p:txBody>
      </p:sp>
      <p:sp>
        <p:nvSpPr>
          <p:cNvPr id="17" name="Tile text 3"/>
          <p:cNvSpPr txBox="1"/>
          <p:nvPr/>
        </p:nvSpPr>
        <p:spPr>
          <a:xfrm>
            <a:off x="8220456" y="2404872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9E4"/>
                </a:solidFill>
              </a:rPr>
              <a:t>Products with 40%+ discount average 4.28 stars, against 4.48 for the rest.</a:t>
            </a:r>
            <a:endParaRPr lang="en-US" sz="1150" dirty="0"/>
          </a:p>
        </p:txBody>
      </p:sp>
      <p:sp>
        <p:nvSpPr>
          <p:cNvPr id="18" name="Tile 4"/>
          <p:cNvSpPr/>
          <p:nvPr/>
        </p:nvSpPr>
        <p:spPr>
          <a:xfrm>
            <a:off x="548640" y="3749040"/>
            <a:ext cx="3538728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19" name="Dot 4"/>
          <p:cNvSpPr/>
          <p:nvPr/>
        </p:nvSpPr>
        <p:spPr>
          <a:xfrm>
            <a:off x="777240" y="395020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ile title 4"/>
          <p:cNvSpPr txBox="1"/>
          <p:nvPr/>
        </p:nvSpPr>
        <p:spPr>
          <a:xfrm>
            <a:off x="777240" y="416052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Top Brand</a:t>
            </a:r>
            <a:endParaRPr lang="en-US" sz="1500" dirty="0"/>
          </a:p>
        </p:txBody>
      </p:sp>
      <p:sp>
        <p:nvSpPr>
          <p:cNvPr id="21" name="Tile text 4"/>
          <p:cNvSpPr txBox="1"/>
          <p:nvPr/>
        </p:nvSpPr>
        <p:spPr>
          <a:xfrm>
            <a:off x="777240" y="4553712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9E4"/>
                </a:solidFill>
              </a:rPr>
              <a:t>Nike has the most customer ratings (236,630), ahead of Adidas and ASICS.</a:t>
            </a:r>
            <a:endParaRPr lang="en-US" sz="1150" dirty="0"/>
          </a:p>
        </p:txBody>
      </p:sp>
      <p:sp>
        <p:nvSpPr>
          <p:cNvPr id="22" name="Tile 5"/>
          <p:cNvSpPr/>
          <p:nvPr/>
        </p:nvSpPr>
        <p:spPr>
          <a:xfrm>
            <a:off x="4270248" y="3749040"/>
            <a:ext cx="3538728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23" name="Dot 5"/>
          <p:cNvSpPr/>
          <p:nvPr/>
        </p:nvSpPr>
        <p:spPr>
          <a:xfrm>
            <a:off x="4498848" y="395020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ile title 5"/>
          <p:cNvSpPr txBox="1"/>
          <p:nvPr/>
        </p:nvSpPr>
        <p:spPr>
          <a:xfrm>
            <a:off x="4498848" y="416052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Quality Leaders</a:t>
            </a:r>
            <a:endParaRPr lang="en-US" sz="1500" dirty="0"/>
          </a:p>
        </p:txBody>
      </p:sp>
      <p:sp>
        <p:nvSpPr>
          <p:cNvPr id="25" name="Tile text 5"/>
          <p:cNvSpPr txBox="1"/>
          <p:nvPr/>
        </p:nvSpPr>
        <p:spPr>
          <a:xfrm>
            <a:off x="4498848" y="4553712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9E4"/>
                </a:solidFill>
              </a:rPr>
              <a:t>Only ASICS, Manyavar and New Balance average above 4.5 stars.</a:t>
            </a:r>
            <a:endParaRPr lang="en-US" sz="1150" dirty="0"/>
          </a:p>
        </p:txBody>
      </p:sp>
      <p:sp>
        <p:nvSpPr>
          <p:cNvPr id="26" name="Tile 6"/>
          <p:cNvSpPr/>
          <p:nvPr/>
        </p:nvSpPr>
        <p:spPr>
          <a:xfrm>
            <a:off x="7991856" y="3749040"/>
            <a:ext cx="3538728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27" name="Dot 6"/>
          <p:cNvSpPr/>
          <p:nvPr/>
        </p:nvSpPr>
        <p:spPr>
          <a:xfrm>
            <a:off x="8220456" y="395020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ile title 6"/>
          <p:cNvSpPr txBox="1"/>
          <p:nvPr/>
        </p:nvSpPr>
        <p:spPr>
          <a:xfrm>
            <a:off x="8220456" y="416052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Brand Landscape</a:t>
            </a:r>
            <a:endParaRPr lang="en-US" sz="1500" dirty="0"/>
          </a:p>
        </p:txBody>
      </p:sp>
      <p:sp>
        <p:nvSpPr>
          <p:cNvPr id="29" name="Tile text 6"/>
          <p:cNvSpPr txBox="1"/>
          <p:nvPr/>
        </p:nvSpPr>
        <p:spPr>
          <a:xfrm>
            <a:off x="8220456" y="4553712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9E4"/>
                </a:solidFill>
              </a:rPr>
              <a:t>20 brands in total; six have more than 100 products, led by Puma with 121.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1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2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548640" y="150876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Badge 1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Badge number 1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Card title 1"/>
          <p:cNvSpPr txBox="1"/>
          <p:nvPr/>
        </p:nvSpPr>
        <p:spPr>
          <a:xfrm>
            <a:off x="1417320" y="16916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Filtering &amp; sorting</a:t>
            </a:r>
            <a:endParaRPr lang="en-US" sz="1500" dirty="0"/>
          </a:p>
        </p:txBody>
      </p:sp>
      <p:sp>
        <p:nvSpPr>
          <p:cNvPr id="8" name="Card text 1"/>
          <p:cNvSpPr txBox="1"/>
          <p:nvPr/>
        </p:nvSpPr>
        <p:spPr>
          <a:xfrm>
            <a:off x="1417320" y="203911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WHERE, DISTINCT, ORDER BY and LIMIT answered problems 1 and 2.</a:t>
            </a:r>
            <a:endParaRPr lang="en-US" sz="1200" dirty="0"/>
          </a:p>
        </p:txBody>
      </p:sp>
      <p:sp>
        <p:nvSpPr>
          <p:cNvPr id="9" name="Card 2"/>
          <p:cNvSpPr/>
          <p:nvPr/>
        </p:nvSpPr>
        <p:spPr>
          <a:xfrm>
            <a:off x="6172200" y="150876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Badge 2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Badge number 2"/>
          <p:cNvSpPr txBox="1"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Card title 2"/>
          <p:cNvSpPr txBox="1"/>
          <p:nvPr/>
        </p:nvSpPr>
        <p:spPr>
          <a:xfrm>
            <a:off x="7040880" y="16916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Grouping &amp; aggregates</a:t>
            </a:r>
            <a:endParaRPr lang="en-US" sz="1500" dirty="0"/>
          </a:p>
        </p:txBody>
      </p:sp>
      <p:sp>
        <p:nvSpPr>
          <p:cNvPr id="13" name="Card text 2"/>
          <p:cNvSpPr txBox="1"/>
          <p:nvPr/>
        </p:nvSpPr>
        <p:spPr>
          <a:xfrm>
            <a:off x="7040880" y="203911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COUNT, AVG and SUM with GROUP BY and HAVING answered problems 3 and 4.</a:t>
            </a:r>
            <a:endParaRPr lang="en-US" sz="1200" dirty="0"/>
          </a:p>
        </p:txBody>
      </p:sp>
      <p:sp>
        <p:nvSpPr>
          <p:cNvPr id="14" name="Card 3"/>
          <p:cNvSpPr/>
          <p:nvPr/>
        </p:nvSpPr>
        <p:spPr>
          <a:xfrm>
            <a:off x="548640" y="3035808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Badge 3"/>
          <p:cNvSpPr/>
          <p:nvPr/>
        </p:nvSpPr>
        <p:spPr>
          <a:xfrm>
            <a:off x="777240" y="33101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Badge number 3"/>
          <p:cNvSpPr txBox="1"/>
          <p:nvPr/>
        </p:nvSpPr>
        <p:spPr>
          <a:xfrm>
            <a:off x="7772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Card title 3"/>
          <p:cNvSpPr txBox="1"/>
          <p:nvPr/>
        </p:nvSpPr>
        <p:spPr>
          <a:xfrm>
            <a:off x="1417320" y="321868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CASE logic</a:t>
            </a:r>
            <a:endParaRPr lang="en-US" sz="1500" dirty="0"/>
          </a:p>
        </p:txBody>
      </p:sp>
      <p:sp>
        <p:nvSpPr>
          <p:cNvPr id="18" name="Card text 3"/>
          <p:cNvSpPr txBox="1"/>
          <p:nvPr/>
        </p:nvSpPr>
        <p:spPr>
          <a:xfrm>
            <a:off x="1417320" y="35661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Price and discount labels were created with CASE WHEN in problems 5 and 6.</a:t>
            </a:r>
            <a:endParaRPr lang="en-US" sz="1200" dirty="0"/>
          </a:p>
        </p:txBody>
      </p:sp>
      <p:sp>
        <p:nvSpPr>
          <p:cNvPr id="19" name="Card 4"/>
          <p:cNvSpPr/>
          <p:nvPr/>
        </p:nvSpPr>
        <p:spPr>
          <a:xfrm>
            <a:off x="6172200" y="3035808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Badge 4"/>
          <p:cNvSpPr/>
          <p:nvPr/>
        </p:nvSpPr>
        <p:spPr>
          <a:xfrm>
            <a:off x="6400800" y="33101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Badge number 4"/>
          <p:cNvSpPr txBox="1"/>
          <p:nvPr/>
        </p:nvSpPr>
        <p:spPr>
          <a:xfrm>
            <a:off x="640080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Card title 4"/>
          <p:cNvSpPr txBox="1"/>
          <p:nvPr/>
        </p:nvSpPr>
        <p:spPr>
          <a:xfrm>
            <a:off x="7040880" y="321868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Window function &amp; procedure</a:t>
            </a:r>
            <a:endParaRPr lang="en-US" sz="1500" dirty="0"/>
          </a:p>
        </p:txBody>
      </p:sp>
      <p:sp>
        <p:nvSpPr>
          <p:cNvPr id="23" name="Card text 4"/>
          <p:cNvSpPr txBox="1"/>
          <p:nvPr/>
        </p:nvSpPr>
        <p:spPr>
          <a:xfrm>
            <a:off x="7040880" y="35661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RANK() ranked brands in problem 7, and a stored procedure listed any brand’s top products in problem 8.</a:t>
            </a:r>
            <a:endParaRPr lang="en-US" sz="1200" dirty="0"/>
          </a:p>
        </p:txBody>
      </p:sp>
      <p:sp>
        <p:nvSpPr>
          <p:cNvPr id="24" name="Card 5"/>
          <p:cNvSpPr/>
          <p:nvPr/>
        </p:nvSpPr>
        <p:spPr>
          <a:xfrm>
            <a:off x="548640" y="4562856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Badge 5"/>
          <p:cNvSpPr/>
          <p:nvPr/>
        </p:nvSpPr>
        <p:spPr>
          <a:xfrm>
            <a:off x="777240" y="48371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Badge number 5"/>
          <p:cNvSpPr txBox="1"/>
          <p:nvPr/>
        </p:nvSpPr>
        <p:spPr>
          <a:xfrm>
            <a:off x="77724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Card title 5"/>
          <p:cNvSpPr txBox="1"/>
          <p:nvPr/>
        </p:nvSpPr>
        <p:spPr>
          <a:xfrm>
            <a:off x="1417320" y="474573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Subqueries</a:t>
            </a:r>
            <a:endParaRPr lang="en-US" sz="1500" dirty="0"/>
          </a:p>
        </p:txBody>
      </p:sp>
      <p:sp>
        <p:nvSpPr>
          <p:cNvPr id="28" name="Card text 5"/>
          <p:cNvSpPr txBox="1"/>
          <p:nvPr/>
        </p:nvSpPr>
        <p:spPr>
          <a:xfrm>
            <a:off x="1417320" y="50932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 scalar subquery and an IN subquery answered problems 9 and 10.</a:t>
            </a:r>
            <a:endParaRPr lang="en-US" sz="1200" dirty="0"/>
          </a:p>
        </p:txBody>
      </p:sp>
      <p:sp>
        <p:nvSpPr>
          <p:cNvPr id="29" name="Card 6"/>
          <p:cNvSpPr/>
          <p:nvPr/>
        </p:nvSpPr>
        <p:spPr>
          <a:xfrm>
            <a:off x="6172200" y="4562856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Badge 6"/>
          <p:cNvSpPr/>
          <p:nvPr/>
        </p:nvSpPr>
        <p:spPr>
          <a:xfrm>
            <a:off x="6400800" y="48371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Badge number 6"/>
          <p:cNvSpPr txBox="1"/>
          <p:nvPr/>
        </p:nvSpPr>
        <p:spPr>
          <a:xfrm>
            <a:off x="64008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Card title 6"/>
          <p:cNvSpPr txBox="1"/>
          <p:nvPr/>
        </p:nvSpPr>
        <p:spPr>
          <a:xfrm>
            <a:off x="7040880" y="474573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Business thinking</a:t>
            </a:r>
            <a:endParaRPr lang="en-US" sz="1500" dirty="0"/>
          </a:p>
        </p:txBody>
      </p:sp>
      <p:sp>
        <p:nvSpPr>
          <p:cNvPr id="33" name="Card text 6"/>
          <p:cNvSpPr txBox="1"/>
          <p:nvPr/>
        </p:nvSpPr>
        <p:spPr>
          <a:xfrm>
            <a:off x="7040880" y="50932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Every query ends with an insight that a manager can act 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47104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6C7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3" name="Circle top left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4" name="Logo badge"/>
          <p:cNvSpPr/>
          <p:nvPr/>
        </p:nvSpPr>
        <p:spPr>
          <a:xfrm>
            <a:off x="5157216" y="1901952"/>
            <a:ext cx="1865376" cy="1353312"/>
          </a:xfrm>
          <a:prstGeom prst="roundRect">
            <a:avLst>
              <a:gd name="adj" fmla="val 16892"/>
            </a:avLst>
          </a:prstGeom>
          <a:solidFill>
            <a:schemeClr val="bg1"/>
          </a:solidFill>
          <a:ln/>
        </p:spPr>
      </p:sp>
      <p:pic>
        <p:nvPicPr>
          <p:cNvPr id="5" name="Myntra logo" descr="Myntr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2148840"/>
            <a:ext cx="1261872" cy="868680"/>
          </a:xfrm>
          <a:prstGeom prst="rect">
            <a:avLst/>
          </a:prstGeom>
        </p:spPr>
      </p:pic>
      <p:sp>
        <p:nvSpPr>
          <p:cNvPr id="6" name="Thank you"/>
          <p:cNvSpPr txBox="1"/>
          <p:nvPr/>
        </p:nvSpPr>
        <p:spPr>
          <a:xfrm>
            <a:off x="548640" y="3383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 !!</a:t>
            </a:r>
            <a:endParaRPr lang="en-US" sz="4000" dirty="0"/>
          </a:p>
        </p:txBody>
      </p:sp>
      <p:sp>
        <p:nvSpPr>
          <p:cNvPr id="7" name="Questions"/>
          <p:cNvSpPr txBox="1"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Questions &amp; Discussion</a:t>
            </a:r>
            <a:endParaRPr lang="en-US" sz="1500" dirty="0"/>
          </a:p>
        </p:txBody>
      </p:sp>
      <p:pic>
        <p:nvPicPr>
          <p:cNvPr id="8" name="LinkedIn logo" descr="LinkedIn logo">
            <a:hlinkClick r:id="rId3" tooltip="https://www.linkedin.com/in/krunali-pujari-ab635534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5074920"/>
            <a:ext cx="457200" cy="457200"/>
          </a:xfrm>
          <a:prstGeom prst="rect">
            <a:avLst/>
          </a:prstGeom>
        </p:spPr>
      </p:pic>
      <p:sp>
        <p:nvSpPr>
          <p:cNvPr id="9" name="LinkedIn link">
            <a:hlinkClick r:id="rId4" tooltip="https://www.linkedin.com/in/krunali-pujari-ab6355343"/>
          </p:cNvPr>
          <p:cNvSpPr txBox="1"/>
          <p:nvPr/>
        </p:nvSpPr>
        <p:spPr>
          <a:xfrm>
            <a:off x="4617720" y="5074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bg1"/>
                </a:solidFill>
                <a:hlinkClick r:id="rId4" invalidUrl="" action="" tgtFrame="" tooltip="https://www.linkedin.com/in/krunali-pujari-ab635534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600" dirty="0"/>
          </a:p>
        </p:txBody>
      </p:sp>
      <p:pic>
        <p:nvPicPr>
          <p:cNvPr id="10" name="GitHub logo" descr="GitHub logo">
            <a:hlinkClick r:id="rId6" tooltip="https://github.com/Krunali2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5074920"/>
            <a:ext cx="457200" cy="457200"/>
          </a:xfrm>
          <a:prstGeom prst="rect">
            <a:avLst/>
          </a:prstGeom>
        </p:spPr>
      </p:pic>
      <p:sp>
        <p:nvSpPr>
          <p:cNvPr id="11" name="GitHub link">
            <a:hlinkClick r:id="rId7" tooltip="https://github.com/Krunali23"/>
          </p:cNvPr>
          <p:cNvSpPr txBox="1"/>
          <p:nvPr/>
        </p:nvSpPr>
        <p:spPr>
          <a:xfrm>
            <a:off x="7269480" y="5074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bg1"/>
                </a:solidFill>
                <a:hlinkClick r:id="rId7" invalidUrl="" action="" tgtFrame="" tooltip="https://github.com/Krunali2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ntra EDA">
  <a:themeElements>
    <a:clrScheme name="Myntra EDA">
      <a:dk1>
        <a:srgbClr val="282C3F"/>
      </a:dk1>
      <a:lt1>
        <a:srgbClr val="FFFFFF"/>
      </a:lt1>
      <a:dk2>
        <a:srgbClr val="343A52"/>
      </a:dk2>
      <a:lt2>
        <a:srgbClr val="F7F7F9"/>
      </a:lt2>
      <a:accent1>
        <a:srgbClr val="FF15B7"/>
      </a:accent1>
      <a:accent2>
        <a:srgbClr val="FF5400"/>
      </a:accent2>
      <a:accent3>
        <a:srgbClr val="9C1054"/>
      </a:accent3>
      <a:accent4>
        <a:srgbClr val="B91F2A"/>
      </a:accent4>
      <a:accent5>
        <a:srgbClr val="6C6C74"/>
      </a:accent5>
      <a:accent6>
        <a:srgbClr val="FFE3F6"/>
      </a:accent6>
      <a:hlink>
        <a:srgbClr val="FFFFFF"/>
      </a:hlink>
      <a:folHlink>
        <a:srgbClr val="FFFFFF"/>
      </a:folHlink>
    </a:clrScheme>
    <a:fontScheme name="Myntra ED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Myntra Product Catalog: SQL Analysis</dc:title>
  <dc:subject>PptxGenJS Presentation</dc:subject>
  <dc:creator>PptxGenJS</dc:creator>
  <cp:lastModifiedBy>PptxGenJS</cp:lastModifiedBy>
  <cp:revision>1</cp:revision>
  <dcterms:created xsi:type="dcterms:W3CDTF">2026-10-26T08:05:18Z</dcterms:created>
  <dcterms:modified xsi:type="dcterms:W3CDTF">2026-10-26T08:05:18Z</dcterms:modified>
</cp:coreProperties>
</file>